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5AC3BE-A6F9-45E7-B4A1-087F328076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0B61C1-7082-4686-AF6C-C701F3B3FC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2AE199-3DCF-491C-B948-D1452894A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6E9AF-0FC5-478B-B338-84192092F3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6DEF51-E56D-43D7-B005-88C34EB06E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B52CE2-446C-449E-93A3-27A0DB6DB9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929680-069C-446F-B599-47D1267DAF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B3BC4D-20CE-4B09-89E5-2D01F4393D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1FD0B6-4FCF-42B9-8D6C-1132A09D41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65760" y="2743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97280" y="9144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2286000" y="6400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3474720" y="1828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663440" y="8229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852160" y="3657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040880" y="10058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8138160" y="5486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326880" y="2743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10515600" y="7315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1704320" y="4572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731520" y="19202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828800" y="16459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3017520" y="22860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206240" y="14630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394960" y="21031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583680" y="17373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7772400" y="23774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8961120" y="18288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10149840" y="21945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11338560" y="15544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1371600" y="36576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2743200" y="32918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4023360" y="39319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5303520" y="35661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6492240" y="41148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7680960" y="33832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8869680" y="37490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10058400" y="34747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11247120" y="402336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548640" y="53035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2011680" y="484632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3383280" y="54864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4754880" y="502920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6126480" y="56692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7406640" y="521208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8778240" y="46634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10332720" y="55778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11612880" y="5120640"/>
            <a:ext cx="45360" cy="453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0" y="731520"/>
            <a:ext cx="109440" cy="512028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320040" y="822960"/>
            <a:ext cx="7589160" cy="3657240"/>
          </a:xfrm>
          <a:prstGeom prst="rect">
            <a:avLst/>
          </a:prstGeom>
          <a:solidFill>
            <a:srgbClr val="0D1535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320040" y="822960"/>
            <a:ext cx="7589160" cy="6372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502920" y="960120"/>
            <a:ext cx="7314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2D MAZE SOLVER GAME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502920" y="21488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Design &amp; Analysis using Python + Pygame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4"/>
          <p:cNvSpPr/>
          <p:nvPr/>
        </p:nvSpPr>
        <p:spPr>
          <a:xfrm>
            <a:off x="502920" y="26334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Analysis of Algorithms  ·  Course Project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502920" y="3108960"/>
            <a:ext cx="1243080" cy="365400"/>
          </a:xfrm>
          <a:prstGeom prst="roundRect">
            <a:avLst>
              <a:gd name="adj" fmla="val 15000"/>
            </a:avLst>
          </a:prstGeom>
          <a:solidFill>
            <a:srgbClr val="1B63C8">
              <a:alpha val="80000"/>
            </a:srgbClr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6"/>
          <p:cNvSpPr/>
          <p:nvPr/>
        </p:nvSpPr>
        <p:spPr>
          <a:xfrm>
            <a:off x="502920" y="310896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Python 3.10+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1883520" y="3108960"/>
            <a:ext cx="749520" cy="365400"/>
          </a:xfrm>
          <a:prstGeom prst="roundRect">
            <a:avLst>
              <a:gd name="adj" fmla="val 15000"/>
            </a:avLst>
          </a:prstGeom>
          <a:solidFill>
            <a:srgbClr val="1B63C8">
              <a:alpha val="80000"/>
            </a:srgbClr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1883520" y="3108960"/>
            <a:ext cx="749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Pygame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2770560" y="3108960"/>
            <a:ext cx="502560" cy="365400"/>
          </a:xfrm>
          <a:prstGeom prst="roundRect">
            <a:avLst>
              <a:gd name="adj" fmla="val 15000"/>
            </a:avLst>
          </a:prstGeom>
          <a:solidFill>
            <a:srgbClr val="1B63C8">
              <a:alpha val="80000"/>
            </a:srgbClr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0"/>
          <p:cNvSpPr/>
          <p:nvPr/>
        </p:nvSpPr>
        <p:spPr>
          <a:xfrm>
            <a:off x="2770560" y="310896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DFS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3410640" y="3108960"/>
            <a:ext cx="502560" cy="365400"/>
          </a:xfrm>
          <a:prstGeom prst="roundRect">
            <a:avLst>
              <a:gd name="adj" fmla="val 15000"/>
            </a:avLst>
          </a:prstGeom>
          <a:solidFill>
            <a:srgbClr val="1B63C8">
              <a:alpha val="80000"/>
            </a:srgbClr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2"/>
          <p:cNvSpPr/>
          <p:nvPr/>
        </p:nvSpPr>
        <p:spPr>
          <a:xfrm>
            <a:off x="3410640" y="310896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BFS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3"/>
          <p:cNvSpPr/>
          <p:nvPr/>
        </p:nvSpPr>
        <p:spPr>
          <a:xfrm>
            <a:off x="4050720" y="3108960"/>
            <a:ext cx="1161000" cy="365400"/>
          </a:xfrm>
          <a:prstGeom prst="roundRect">
            <a:avLst>
              <a:gd name="adj" fmla="val 15000"/>
            </a:avLst>
          </a:prstGeom>
          <a:solidFill>
            <a:srgbClr val="1B63C8">
              <a:alpha val="80000"/>
            </a:srgbClr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4050720" y="3108960"/>
            <a:ext cx="116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Pathfinding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8229600" y="685800"/>
            <a:ext cx="3657240" cy="548604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6"/>
          <p:cNvSpPr/>
          <p:nvPr/>
        </p:nvSpPr>
        <p:spPr>
          <a:xfrm>
            <a:off x="841248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7"/>
          <p:cNvSpPr/>
          <p:nvPr/>
        </p:nvSpPr>
        <p:spPr>
          <a:xfrm>
            <a:off x="861840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8"/>
          <p:cNvSpPr/>
          <p:nvPr/>
        </p:nvSpPr>
        <p:spPr>
          <a:xfrm>
            <a:off x="882396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9"/>
          <p:cNvSpPr/>
          <p:nvPr/>
        </p:nvSpPr>
        <p:spPr>
          <a:xfrm>
            <a:off x="902988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0"/>
          <p:cNvSpPr/>
          <p:nvPr/>
        </p:nvSpPr>
        <p:spPr>
          <a:xfrm>
            <a:off x="923544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944136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2"/>
          <p:cNvSpPr/>
          <p:nvPr/>
        </p:nvSpPr>
        <p:spPr>
          <a:xfrm>
            <a:off x="964692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985284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4"/>
          <p:cNvSpPr/>
          <p:nvPr/>
        </p:nvSpPr>
        <p:spPr>
          <a:xfrm>
            <a:off x="1005840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5"/>
          <p:cNvSpPr/>
          <p:nvPr/>
        </p:nvSpPr>
        <p:spPr>
          <a:xfrm>
            <a:off x="1026432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6"/>
          <p:cNvSpPr/>
          <p:nvPr/>
        </p:nvSpPr>
        <p:spPr>
          <a:xfrm>
            <a:off x="1046988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7"/>
          <p:cNvSpPr/>
          <p:nvPr/>
        </p:nvSpPr>
        <p:spPr>
          <a:xfrm>
            <a:off x="1067580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8"/>
          <p:cNvSpPr/>
          <p:nvPr/>
        </p:nvSpPr>
        <p:spPr>
          <a:xfrm>
            <a:off x="1088136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9"/>
          <p:cNvSpPr/>
          <p:nvPr/>
        </p:nvSpPr>
        <p:spPr>
          <a:xfrm>
            <a:off x="1108728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0"/>
          <p:cNvSpPr/>
          <p:nvPr/>
        </p:nvSpPr>
        <p:spPr>
          <a:xfrm>
            <a:off x="1129284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11498760" y="9601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2"/>
          <p:cNvSpPr/>
          <p:nvPr/>
        </p:nvSpPr>
        <p:spPr>
          <a:xfrm>
            <a:off x="8412480" y="116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3"/>
          <p:cNvSpPr/>
          <p:nvPr/>
        </p:nvSpPr>
        <p:spPr>
          <a:xfrm>
            <a:off x="861840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4"/>
          <p:cNvSpPr/>
          <p:nvPr/>
        </p:nvSpPr>
        <p:spPr>
          <a:xfrm>
            <a:off x="882396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5"/>
          <p:cNvSpPr/>
          <p:nvPr/>
        </p:nvSpPr>
        <p:spPr>
          <a:xfrm>
            <a:off x="902988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6"/>
          <p:cNvSpPr/>
          <p:nvPr/>
        </p:nvSpPr>
        <p:spPr>
          <a:xfrm>
            <a:off x="9235440" y="116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944136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8"/>
          <p:cNvSpPr/>
          <p:nvPr/>
        </p:nvSpPr>
        <p:spPr>
          <a:xfrm>
            <a:off x="964692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9"/>
          <p:cNvSpPr/>
          <p:nvPr/>
        </p:nvSpPr>
        <p:spPr>
          <a:xfrm>
            <a:off x="985284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0"/>
          <p:cNvSpPr/>
          <p:nvPr/>
        </p:nvSpPr>
        <p:spPr>
          <a:xfrm>
            <a:off x="1005840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1"/>
          <p:cNvSpPr/>
          <p:nvPr/>
        </p:nvSpPr>
        <p:spPr>
          <a:xfrm>
            <a:off x="1026432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2"/>
          <p:cNvSpPr/>
          <p:nvPr/>
        </p:nvSpPr>
        <p:spPr>
          <a:xfrm>
            <a:off x="10469880" y="116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3"/>
          <p:cNvSpPr/>
          <p:nvPr/>
        </p:nvSpPr>
        <p:spPr>
          <a:xfrm>
            <a:off x="1067580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4"/>
          <p:cNvSpPr/>
          <p:nvPr/>
        </p:nvSpPr>
        <p:spPr>
          <a:xfrm>
            <a:off x="1088136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5"/>
          <p:cNvSpPr/>
          <p:nvPr/>
        </p:nvSpPr>
        <p:spPr>
          <a:xfrm>
            <a:off x="1108728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6"/>
          <p:cNvSpPr/>
          <p:nvPr/>
        </p:nvSpPr>
        <p:spPr>
          <a:xfrm>
            <a:off x="11292840" y="116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7"/>
          <p:cNvSpPr/>
          <p:nvPr/>
        </p:nvSpPr>
        <p:spPr>
          <a:xfrm>
            <a:off x="11498760" y="116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8"/>
          <p:cNvSpPr/>
          <p:nvPr/>
        </p:nvSpPr>
        <p:spPr>
          <a:xfrm>
            <a:off x="841248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9"/>
          <p:cNvSpPr/>
          <p:nvPr/>
        </p:nvSpPr>
        <p:spPr>
          <a:xfrm>
            <a:off x="861840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0"/>
          <p:cNvSpPr/>
          <p:nvPr/>
        </p:nvSpPr>
        <p:spPr>
          <a:xfrm>
            <a:off x="882396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1"/>
          <p:cNvSpPr/>
          <p:nvPr/>
        </p:nvSpPr>
        <p:spPr>
          <a:xfrm>
            <a:off x="902988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2"/>
          <p:cNvSpPr/>
          <p:nvPr/>
        </p:nvSpPr>
        <p:spPr>
          <a:xfrm>
            <a:off x="923544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3"/>
          <p:cNvSpPr/>
          <p:nvPr/>
        </p:nvSpPr>
        <p:spPr>
          <a:xfrm>
            <a:off x="944136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4"/>
          <p:cNvSpPr/>
          <p:nvPr/>
        </p:nvSpPr>
        <p:spPr>
          <a:xfrm>
            <a:off x="964692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5"/>
          <p:cNvSpPr/>
          <p:nvPr/>
        </p:nvSpPr>
        <p:spPr>
          <a:xfrm>
            <a:off x="985284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6"/>
          <p:cNvSpPr/>
          <p:nvPr/>
        </p:nvSpPr>
        <p:spPr>
          <a:xfrm>
            <a:off x="1005840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7"/>
          <p:cNvSpPr/>
          <p:nvPr/>
        </p:nvSpPr>
        <p:spPr>
          <a:xfrm>
            <a:off x="1026432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8"/>
          <p:cNvSpPr/>
          <p:nvPr/>
        </p:nvSpPr>
        <p:spPr>
          <a:xfrm>
            <a:off x="1046988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9"/>
          <p:cNvSpPr/>
          <p:nvPr/>
        </p:nvSpPr>
        <p:spPr>
          <a:xfrm>
            <a:off x="1067580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0"/>
          <p:cNvSpPr/>
          <p:nvPr/>
        </p:nvSpPr>
        <p:spPr>
          <a:xfrm>
            <a:off x="1088136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1"/>
          <p:cNvSpPr/>
          <p:nvPr/>
        </p:nvSpPr>
        <p:spPr>
          <a:xfrm>
            <a:off x="1108728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2"/>
          <p:cNvSpPr/>
          <p:nvPr/>
        </p:nvSpPr>
        <p:spPr>
          <a:xfrm>
            <a:off x="11292840" y="13716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3"/>
          <p:cNvSpPr/>
          <p:nvPr/>
        </p:nvSpPr>
        <p:spPr>
          <a:xfrm>
            <a:off x="11498760" y="13716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4"/>
          <p:cNvSpPr/>
          <p:nvPr/>
        </p:nvSpPr>
        <p:spPr>
          <a:xfrm>
            <a:off x="8412480" y="157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5"/>
          <p:cNvSpPr/>
          <p:nvPr/>
        </p:nvSpPr>
        <p:spPr>
          <a:xfrm>
            <a:off x="861840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6"/>
          <p:cNvSpPr/>
          <p:nvPr/>
        </p:nvSpPr>
        <p:spPr>
          <a:xfrm>
            <a:off x="8823960" y="157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7"/>
          <p:cNvSpPr/>
          <p:nvPr/>
        </p:nvSpPr>
        <p:spPr>
          <a:xfrm>
            <a:off x="902988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8"/>
          <p:cNvSpPr/>
          <p:nvPr/>
        </p:nvSpPr>
        <p:spPr>
          <a:xfrm>
            <a:off x="923544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09"/>
          <p:cNvSpPr/>
          <p:nvPr/>
        </p:nvSpPr>
        <p:spPr>
          <a:xfrm>
            <a:off x="944136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0"/>
          <p:cNvSpPr/>
          <p:nvPr/>
        </p:nvSpPr>
        <p:spPr>
          <a:xfrm>
            <a:off x="9646920" y="157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1"/>
          <p:cNvSpPr/>
          <p:nvPr/>
        </p:nvSpPr>
        <p:spPr>
          <a:xfrm>
            <a:off x="985284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2"/>
          <p:cNvSpPr/>
          <p:nvPr/>
        </p:nvSpPr>
        <p:spPr>
          <a:xfrm>
            <a:off x="1005840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3"/>
          <p:cNvSpPr/>
          <p:nvPr/>
        </p:nvSpPr>
        <p:spPr>
          <a:xfrm>
            <a:off x="1026432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4"/>
          <p:cNvSpPr/>
          <p:nvPr/>
        </p:nvSpPr>
        <p:spPr>
          <a:xfrm>
            <a:off x="1046988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5"/>
          <p:cNvSpPr/>
          <p:nvPr/>
        </p:nvSpPr>
        <p:spPr>
          <a:xfrm>
            <a:off x="1067580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6"/>
          <p:cNvSpPr/>
          <p:nvPr/>
        </p:nvSpPr>
        <p:spPr>
          <a:xfrm>
            <a:off x="1088136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7"/>
          <p:cNvSpPr/>
          <p:nvPr/>
        </p:nvSpPr>
        <p:spPr>
          <a:xfrm>
            <a:off x="11087280" y="157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8"/>
          <p:cNvSpPr/>
          <p:nvPr/>
        </p:nvSpPr>
        <p:spPr>
          <a:xfrm>
            <a:off x="11292840" y="157752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9"/>
          <p:cNvSpPr/>
          <p:nvPr/>
        </p:nvSpPr>
        <p:spPr>
          <a:xfrm>
            <a:off x="11498760" y="157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0"/>
          <p:cNvSpPr/>
          <p:nvPr/>
        </p:nvSpPr>
        <p:spPr>
          <a:xfrm>
            <a:off x="841248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1"/>
          <p:cNvSpPr/>
          <p:nvPr/>
        </p:nvSpPr>
        <p:spPr>
          <a:xfrm>
            <a:off x="8618400" y="17830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2"/>
          <p:cNvSpPr/>
          <p:nvPr/>
        </p:nvSpPr>
        <p:spPr>
          <a:xfrm>
            <a:off x="882396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3"/>
          <p:cNvSpPr/>
          <p:nvPr/>
        </p:nvSpPr>
        <p:spPr>
          <a:xfrm>
            <a:off x="902988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4"/>
          <p:cNvSpPr/>
          <p:nvPr/>
        </p:nvSpPr>
        <p:spPr>
          <a:xfrm>
            <a:off x="923544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5"/>
          <p:cNvSpPr/>
          <p:nvPr/>
        </p:nvSpPr>
        <p:spPr>
          <a:xfrm>
            <a:off x="944136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6"/>
          <p:cNvSpPr/>
          <p:nvPr/>
        </p:nvSpPr>
        <p:spPr>
          <a:xfrm>
            <a:off x="964692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7"/>
          <p:cNvSpPr/>
          <p:nvPr/>
        </p:nvSpPr>
        <p:spPr>
          <a:xfrm>
            <a:off x="9852840" y="17830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8"/>
          <p:cNvSpPr/>
          <p:nvPr/>
        </p:nvSpPr>
        <p:spPr>
          <a:xfrm>
            <a:off x="1005840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9"/>
          <p:cNvSpPr/>
          <p:nvPr/>
        </p:nvSpPr>
        <p:spPr>
          <a:xfrm>
            <a:off x="1026432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0"/>
          <p:cNvSpPr/>
          <p:nvPr/>
        </p:nvSpPr>
        <p:spPr>
          <a:xfrm>
            <a:off x="1046988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31"/>
          <p:cNvSpPr/>
          <p:nvPr/>
        </p:nvSpPr>
        <p:spPr>
          <a:xfrm>
            <a:off x="1067580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2"/>
          <p:cNvSpPr/>
          <p:nvPr/>
        </p:nvSpPr>
        <p:spPr>
          <a:xfrm>
            <a:off x="10881360" y="17830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3"/>
          <p:cNvSpPr/>
          <p:nvPr/>
        </p:nvSpPr>
        <p:spPr>
          <a:xfrm>
            <a:off x="1108728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4"/>
          <p:cNvSpPr/>
          <p:nvPr/>
        </p:nvSpPr>
        <p:spPr>
          <a:xfrm>
            <a:off x="11292840" y="17830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5"/>
          <p:cNvSpPr/>
          <p:nvPr/>
        </p:nvSpPr>
        <p:spPr>
          <a:xfrm>
            <a:off x="11498760" y="17830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36"/>
          <p:cNvSpPr/>
          <p:nvPr/>
        </p:nvSpPr>
        <p:spPr>
          <a:xfrm>
            <a:off x="8412480" y="19890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7"/>
          <p:cNvSpPr/>
          <p:nvPr/>
        </p:nvSpPr>
        <p:spPr>
          <a:xfrm>
            <a:off x="861840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8"/>
          <p:cNvSpPr/>
          <p:nvPr/>
        </p:nvSpPr>
        <p:spPr>
          <a:xfrm>
            <a:off x="882396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9"/>
          <p:cNvSpPr/>
          <p:nvPr/>
        </p:nvSpPr>
        <p:spPr>
          <a:xfrm>
            <a:off x="902988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0"/>
          <p:cNvSpPr/>
          <p:nvPr/>
        </p:nvSpPr>
        <p:spPr>
          <a:xfrm>
            <a:off x="923544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1"/>
          <p:cNvSpPr/>
          <p:nvPr/>
        </p:nvSpPr>
        <p:spPr>
          <a:xfrm>
            <a:off x="944136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2"/>
          <p:cNvSpPr/>
          <p:nvPr/>
        </p:nvSpPr>
        <p:spPr>
          <a:xfrm>
            <a:off x="964692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43"/>
          <p:cNvSpPr/>
          <p:nvPr/>
        </p:nvSpPr>
        <p:spPr>
          <a:xfrm>
            <a:off x="985284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4"/>
          <p:cNvSpPr/>
          <p:nvPr/>
        </p:nvSpPr>
        <p:spPr>
          <a:xfrm>
            <a:off x="10058400" y="19890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5"/>
          <p:cNvSpPr/>
          <p:nvPr/>
        </p:nvSpPr>
        <p:spPr>
          <a:xfrm>
            <a:off x="1026432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6"/>
          <p:cNvSpPr/>
          <p:nvPr/>
        </p:nvSpPr>
        <p:spPr>
          <a:xfrm>
            <a:off x="1046988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7"/>
          <p:cNvSpPr/>
          <p:nvPr/>
        </p:nvSpPr>
        <p:spPr>
          <a:xfrm>
            <a:off x="1067580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48"/>
          <p:cNvSpPr/>
          <p:nvPr/>
        </p:nvSpPr>
        <p:spPr>
          <a:xfrm>
            <a:off x="1088136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9"/>
          <p:cNvSpPr/>
          <p:nvPr/>
        </p:nvSpPr>
        <p:spPr>
          <a:xfrm>
            <a:off x="1108728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0"/>
          <p:cNvSpPr/>
          <p:nvPr/>
        </p:nvSpPr>
        <p:spPr>
          <a:xfrm>
            <a:off x="11292840" y="198900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51"/>
          <p:cNvSpPr/>
          <p:nvPr/>
        </p:nvSpPr>
        <p:spPr>
          <a:xfrm>
            <a:off x="11498760" y="198900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52"/>
          <p:cNvSpPr/>
          <p:nvPr/>
        </p:nvSpPr>
        <p:spPr>
          <a:xfrm>
            <a:off x="841248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3"/>
          <p:cNvSpPr/>
          <p:nvPr/>
        </p:nvSpPr>
        <p:spPr>
          <a:xfrm>
            <a:off x="861840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4"/>
          <p:cNvSpPr/>
          <p:nvPr/>
        </p:nvSpPr>
        <p:spPr>
          <a:xfrm>
            <a:off x="882396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5"/>
          <p:cNvSpPr/>
          <p:nvPr/>
        </p:nvSpPr>
        <p:spPr>
          <a:xfrm>
            <a:off x="9029880" y="21945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6"/>
          <p:cNvSpPr/>
          <p:nvPr/>
        </p:nvSpPr>
        <p:spPr>
          <a:xfrm>
            <a:off x="923544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57"/>
          <p:cNvSpPr/>
          <p:nvPr/>
        </p:nvSpPr>
        <p:spPr>
          <a:xfrm>
            <a:off x="944136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8"/>
          <p:cNvSpPr/>
          <p:nvPr/>
        </p:nvSpPr>
        <p:spPr>
          <a:xfrm>
            <a:off x="964692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9"/>
          <p:cNvSpPr/>
          <p:nvPr/>
        </p:nvSpPr>
        <p:spPr>
          <a:xfrm>
            <a:off x="985284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0"/>
          <p:cNvSpPr/>
          <p:nvPr/>
        </p:nvSpPr>
        <p:spPr>
          <a:xfrm>
            <a:off x="1005840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1"/>
          <p:cNvSpPr/>
          <p:nvPr/>
        </p:nvSpPr>
        <p:spPr>
          <a:xfrm>
            <a:off x="10264320" y="21945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62"/>
          <p:cNvSpPr/>
          <p:nvPr/>
        </p:nvSpPr>
        <p:spPr>
          <a:xfrm>
            <a:off x="1046988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3"/>
          <p:cNvSpPr/>
          <p:nvPr/>
        </p:nvSpPr>
        <p:spPr>
          <a:xfrm>
            <a:off x="1067580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4"/>
          <p:cNvSpPr/>
          <p:nvPr/>
        </p:nvSpPr>
        <p:spPr>
          <a:xfrm>
            <a:off x="1088136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5"/>
          <p:cNvSpPr/>
          <p:nvPr/>
        </p:nvSpPr>
        <p:spPr>
          <a:xfrm>
            <a:off x="1108728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6"/>
          <p:cNvSpPr/>
          <p:nvPr/>
        </p:nvSpPr>
        <p:spPr>
          <a:xfrm>
            <a:off x="11292840" y="21945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67"/>
          <p:cNvSpPr/>
          <p:nvPr/>
        </p:nvSpPr>
        <p:spPr>
          <a:xfrm>
            <a:off x="11498760" y="21945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68"/>
          <p:cNvSpPr/>
          <p:nvPr/>
        </p:nvSpPr>
        <p:spPr>
          <a:xfrm>
            <a:off x="8412480" y="24004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69"/>
          <p:cNvSpPr/>
          <p:nvPr/>
        </p:nvSpPr>
        <p:spPr>
          <a:xfrm>
            <a:off x="861840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0"/>
          <p:cNvSpPr/>
          <p:nvPr/>
        </p:nvSpPr>
        <p:spPr>
          <a:xfrm>
            <a:off x="882396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1"/>
          <p:cNvSpPr/>
          <p:nvPr/>
        </p:nvSpPr>
        <p:spPr>
          <a:xfrm>
            <a:off x="902988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72"/>
          <p:cNvSpPr/>
          <p:nvPr/>
        </p:nvSpPr>
        <p:spPr>
          <a:xfrm>
            <a:off x="9235440" y="24004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3"/>
          <p:cNvSpPr/>
          <p:nvPr/>
        </p:nvSpPr>
        <p:spPr>
          <a:xfrm>
            <a:off x="944136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4"/>
          <p:cNvSpPr/>
          <p:nvPr/>
        </p:nvSpPr>
        <p:spPr>
          <a:xfrm>
            <a:off x="964692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75"/>
          <p:cNvSpPr/>
          <p:nvPr/>
        </p:nvSpPr>
        <p:spPr>
          <a:xfrm>
            <a:off x="985284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76"/>
          <p:cNvSpPr/>
          <p:nvPr/>
        </p:nvSpPr>
        <p:spPr>
          <a:xfrm>
            <a:off x="1005840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7"/>
          <p:cNvSpPr/>
          <p:nvPr/>
        </p:nvSpPr>
        <p:spPr>
          <a:xfrm>
            <a:off x="1026432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8"/>
          <p:cNvSpPr/>
          <p:nvPr/>
        </p:nvSpPr>
        <p:spPr>
          <a:xfrm>
            <a:off x="10469880" y="24004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9"/>
          <p:cNvSpPr/>
          <p:nvPr/>
        </p:nvSpPr>
        <p:spPr>
          <a:xfrm>
            <a:off x="1067580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80"/>
          <p:cNvSpPr/>
          <p:nvPr/>
        </p:nvSpPr>
        <p:spPr>
          <a:xfrm>
            <a:off x="1088136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81"/>
          <p:cNvSpPr/>
          <p:nvPr/>
        </p:nvSpPr>
        <p:spPr>
          <a:xfrm>
            <a:off x="11087280" y="24004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82"/>
          <p:cNvSpPr/>
          <p:nvPr/>
        </p:nvSpPr>
        <p:spPr>
          <a:xfrm>
            <a:off x="11292840" y="240048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3"/>
          <p:cNvSpPr/>
          <p:nvPr/>
        </p:nvSpPr>
        <p:spPr>
          <a:xfrm>
            <a:off x="11498760" y="240048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4"/>
          <p:cNvSpPr/>
          <p:nvPr/>
        </p:nvSpPr>
        <p:spPr>
          <a:xfrm>
            <a:off x="841248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5"/>
          <p:cNvSpPr/>
          <p:nvPr/>
        </p:nvSpPr>
        <p:spPr>
          <a:xfrm>
            <a:off x="8618400" y="260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86"/>
          <p:cNvSpPr/>
          <p:nvPr/>
        </p:nvSpPr>
        <p:spPr>
          <a:xfrm>
            <a:off x="882396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87"/>
          <p:cNvSpPr/>
          <p:nvPr/>
        </p:nvSpPr>
        <p:spPr>
          <a:xfrm>
            <a:off x="902988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88"/>
          <p:cNvSpPr/>
          <p:nvPr/>
        </p:nvSpPr>
        <p:spPr>
          <a:xfrm>
            <a:off x="923544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9"/>
          <p:cNvSpPr/>
          <p:nvPr/>
        </p:nvSpPr>
        <p:spPr>
          <a:xfrm>
            <a:off x="9441360" y="260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90"/>
          <p:cNvSpPr/>
          <p:nvPr/>
        </p:nvSpPr>
        <p:spPr>
          <a:xfrm>
            <a:off x="964692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91"/>
          <p:cNvSpPr/>
          <p:nvPr/>
        </p:nvSpPr>
        <p:spPr>
          <a:xfrm>
            <a:off x="985284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2"/>
          <p:cNvSpPr/>
          <p:nvPr/>
        </p:nvSpPr>
        <p:spPr>
          <a:xfrm>
            <a:off x="1005840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3"/>
          <p:cNvSpPr/>
          <p:nvPr/>
        </p:nvSpPr>
        <p:spPr>
          <a:xfrm>
            <a:off x="1026432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94"/>
          <p:cNvSpPr/>
          <p:nvPr/>
        </p:nvSpPr>
        <p:spPr>
          <a:xfrm>
            <a:off x="1046988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5"/>
          <p:cNvSpPr/>
          <p:nvPr/>
        </p:nvSpPr>
        <p:spPr>
          <a:xfrm>
            <a:off x="10675800" y="260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6"/>
          <p:cNvSpPr/>
          <p:nvPr/>
        </p:nvSpPr>
        <p:spPr>
          <a:xfrm>
            <a:off x="1088136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97"/>
          <p:cNvSpPr/>
          <p:nvPr/>
        </p:nvSpPr>
        <p:spPr>
          <a:xfrm>
            <a:off x="1108728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98"/>
          <p:cNvSpPr/>
          <p:nvPr/>
        </p:nvSpPr>
        <p:spPr>
          <a:xfrm>
            <a:off x="11292840" y="260604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9"/>
          <p:cNvSpPr/>
          <p:nvPr/>
        </p:nvSpPr>
        <p:spPr>
          <a:xfrm>
            <a:off x="11498760" y="260604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00"/>
          <p:cNvSpPr/>
          <p:nvPr/>
        </p:nvSpPr>
        <p:spPr>
          <a:xfrm>
            <a:off x="8412480" y="28119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01"/>
          <p:cNvSpPr/>
          <p:nvPr/>
        </p:nvSpPr>
        <p:spPr>
          <a:xfrm>
            <a:off x="861840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02"/>
          <p:cNvSpPr/>
          <p:nvPr/>
        </p:nvSpPr>
        <p:spPr>
          <a:xfrm>
            <a:off x="882396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03"/>
          <p:cNvSpPr/>
          <p:nvPr/>
        </p:nvSpPr>
        <p:spPr>
          <a:xfrm>
            <a:off x="902988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04"/>
          <p:cNvSpPr/>
          <p:nvPr/>
        </p:nvSpPr>
        <p:spPr>
          <a:xfrm>
            <a:off x="923544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5"/>
          <p:cNvSpPr/>
          <p:nvPr/>
        </p:nvSpPr>
        <p:spPr>
          <a:xfrm>
            <a:off x="944136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6"/>
          <p:cNvSpPr/>
          <p:nvPr/>
        </p:nvSpPr>
        <p:spPr>
          <a:xfrm>
            <a:off x="9646920" y="28119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7"/>
          <p:cNvSpPr/>
          <p:nvPr/>
        </p:nvSpPr>
        <p:spPr>
          <a:xfrm>
            <a:off x="985284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08"/>
          <p:cNvSpPr/>
          <p:nvPr/>
        </p:nvSpPr>
        <p:spPr>
          <a:xfrm>
            <a:off x="1005840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09"/>
          <p:cNvSpPr/>
          <p:nvPr/>
        </p:nvSpPr>
        <p:spPr>
          <a:xfrm>
            <a:off x="1026432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10"/>
          <p:cNvSpPr/>
          <p:nvPr/>
        </p:nvSpPr>
        <p:spPr>
          <a:xfrm>
            <a:off x="1046988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1"/>
          <p:cNvSpPr/>
          <p:nvPr/>
        </p:nvSpPr>
        <p:spPr>
          <a:xfrm>
            <a:off x="1067580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12"/>
          <p:cNvSpPr/>
          <p:nvPr/>
        </p:nvSpPr>
        <p:spPr>
          <a:xfrm>
            <a:off x="1088136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13"/>
          <p:cNvSpPr/>
          <p:nvPr/>
        </p:nvSpPr>
        <p:spPr>
          <a:xfrm>
            <a:off x="11087280" y="2811960"/>
            <a:ext cx="196200" cy="19620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4"/>
          <p:cNvSpPr/>
          <p:nvPr/>
        </p:nvSpPr>
        <p:spPr>
          <a:xfrm>
            <a:off x="11292840" y="2811960"/>
            <a:ext cx="196200" cy="196200"/>
          </a:xfrm>
          <a:prstGeom prst="rect">
            <a:avLst/>
          </a:prstGeom>
          <a:solidFill>
            <a:srgbClr val="DC3C3C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15"/>
          <p:cNvSpPr/>
          <p:nvPr/>
        </p:nvSpPr>
        <p:spPr>
          <a:xfrm>
            <a:off x="11498760" y="281196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6"/>
          <p:cNvSpPr/>
          <p:nvPr/>
        </p:nvSpPr>
        <p:spPr>
          <a:xfrm>
            <a:off x="841248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7"/>
          <p:cNvSpPr/>
          <p:nvPr/>
        </p:nvSpPr>
        <p:spPr>
          <a:xfrm>
            <a:off x="861840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18"/>
          <p:cNvSpPr/>
          <p:nvPr/>
        </p:nvSpPr>
        <p:spPr>
          <a:xfrm>
            <a:off x="882396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19"/>
          <p:cNvSpPr/>
          <p:nvPr/>
        </p:nvSpPr>
        <p:spPr>
          <a:xfrm>
            <a:off x="902988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20"/>
          <p:cNvSpPr/>
          <p:nvPr/>
        </p:nvSpPr>
        <p:spPr>
          <a:xfrm>
            <a:off x="923544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21"/>
          <p:cNvSpPr/>
          <p:nvPr/>
        </p:nvSpPr>
        <p:spPr>
          <a:xfrm>
            <a:off x="944136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22"/>
          <p:cNvSpPr/>
          <p:nvPr/>
        </p:nvSpPr>
        <p:spPr>
          <a:xfrm>
            <a:off x="964692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23"/>
          <p:cNvSpPr/>
          <p:nvPr/>
        </p:nvSpPr>
        <p:spPr>
          <a:xfrm>
            <a:off x="985284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24"/>
          <p:cNvSpPr/>
          <p:nvPr/>
        </p:nvSpPr>
        <p:spPr>
          <a:xfrm>
            <a:off x="1005840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25"/>
          <p:cNvSpPr/>
          <p:nvPr/>
        </p:nvSpPr>
        <p:spPr>
          <a:xfrm>
            <a:off x="1026432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26"/>
          <p:cNvSpPr/>
          <p:nvPr/>
        </p:nvSpPr>
        <p:spPr>
          <a:xfrm>
            <a:off x="1046988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7"/>
          <p:cNvSpPr/>
          <p:nvPr/>
        </p:nvSpPr>
        <p:spPr>
          <a:xfrm>
            <a:off x="1067580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8"/>
          <p:cNvSpPr/>
          <p:nvPr/>
        </p:nvSpPr>
        <p:spPr>
          <a:xfrm>
            <a:off x="1088136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29"/>
          <p:cNvSpPr/>
          <p:nvPr/>
        </p:nvSpPr>
        <p:spPr>
          <a:xfrm>
            <a:off x="1108728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30"/>
          <p:cNvSpPr/>
          <p:nvPr/>
        </p:nvSpPr>
        <p:spPr>
          <a:xfrm>
            <a:off x="1129284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1"/>
          <p:cNvSpPr/>
          <p:nvPr/>
        </p:nvSpPr>
        <p:spPr>
          <a:xfrm>
            <a:off x="11498760" y="3017520"/>
            <a:ext cx="196200" cy="196200"/>
          </a:xfrm>
          <a:prstGeom prst="rect">
            <a:avLst/>
          </a:prstGeom>
          <a:solidFill>
            <a:srgbClr val="1B63C8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2"/>
          <p:cNvSpPr/>
          <p:nvPr/>
        </p:nvSpPr>
        <p:spPr>
          <a:xfrm>
            <a:off x="8654760" y="120240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33"/>
          <p:cNvSpPr/>
          <p:nvPr/>
        </p:nvSpPr>
        <p:spPr>
          <a:xfrm>
            <a:off x="8860680" y="120240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4"/>
          <p:cNvSpPr/>
          <p:nvPr/>
        </p:nvSpPr>
        <p:spPr>
          <a:xfrm>
            <a:off x="9066240" y="120240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5"/>
          <p:cNvSpPr/>
          <p:nvPr/>
        </p:nvSpPr>
        <p:spPr>
          <a:xfrm>
            <a:off x="9066240" y="140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36"/>
          <p:cNvSpPr/>
          <p:nvPr/>
        </p:nvSpPr>
        <p:spPr>
          <a:xfrm>
            <a:off x="9066240" y="161388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7"/>
          <p:cNvSpPr/>
          <p:nvPr/>
        </p:nvSpPr>
        <p:spPr>
          <a:xfrm>
            <a:off x="9272160" y="161388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38"/>
          <p:cNvSpPr/>
          <p:nvPr/>
        </p:nvSpPr>
        <p:spPr>
          <a:xfrm>
            <a:off x="9477720" y="161388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39"/>
          <p:cNvSpPr/>
          <p:nvPr/>
        </p:nvSpPr>
        <p:spPr>
          <a:xfrm>
            <a:off x="9477720" y="181980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40"/>
          <p:cNvSpPr/>
          <p:nvPr/>
        </p:nvSpPr>
        <p:spPr>
          <a:xfrm>
            <a:off x="9477720" y="202536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41"/>
          <p:cNvSpPr/>
          <p:nvPr/>
        </p:nvSpPr>
        <p:spPr>
          <a:xfrm>
            <a:off x="9683640" y="202536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42"/>
          <p:cNvSpPr/>
          <p:nvPr/>
        </p:nvSpPr>
        <p:spPr>
          <a:xfrm>
            <a:off x="9889200" y="202536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43"/>
          <p:cNvSpPr/>
          <p:nvPr/>
        </p:nvSpPr>
        <p:spPr>
          <a:xfrm>
            <a:off x="9889200" y="223128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4"/>
          <p:cNvSpPr/>
          <p:nvPr/>
        </p:nvSpPr>
        <p:spPr>
          <a:xfrm>
            <a:off x="9889200" y="243684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45"/>
          <p:cNvSpPr/>
          <p:nvPr/>
        </p:nvSpPr>
        <p:spPr>
          <a:xfrm>
            <a:off x="10095120" y="243684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46"/>
          <p:cNvSpPr/>
          <p:nvPr/>
        </p:nvSpPr>
        <p:spPr>
          <a:xfrm>
            <a:off x="10095120" y="264276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47"/>
          <p:cNvSpPr/>
          <p:nvPr/>
        </p:nvSpPr>
        <p:spPr>
          <a:xfrm>
            <a:off x="1009512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48"/>
          <p:cNvSpPr/>
          <p:nvPr/>
        </p:nvSpPr>
        <p:spPr>
          <a:xfrm>
            <a:off x="1030068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49"/>
          <p:cNvSpPr/>
          <p:nvPr/>
        </p:nvSpPr>
        <p:spPr>
          <a:xfrm>
            <a:off x="1050660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50"/>
          <p:cNvSpPr/>
          <p:nvPr/>
        </p:nvSpPr>
        <p:spPr>
          <a:xfrm>
            <a:off x="1071216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51"/>
          <p:cNvSpPr/>
          <p:nvPr/>
        </p:nvSpPr>
        <p:spPr>
          <a:xfrm>
            <a:off x="1091808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52"/>
          <p:cNvSpPr/>
          <p:nvPr/>
        </p:nvSpPr>
        <p:spPr>
          <a:xfrm>
            <a:off x="1112364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53"/>
          <p:cNvSpPr/>
          <p:nvPr/>
        </p:nvSpPr>
        <p:spPr>
          <a:xfrm>
            <a:off x="11329560" y="2848320"/>
            <a:ext cx="123120" cy="123120"/>
          </a:xfrm>
          <a:prstGeom prst="ellipse">
            <a:avLst/>
          </a:prstGeom>
          <a:solidFill>
            <a:srgbClr val="FFD228">
              <a:alpha val="80000"/>
            </a:srgbClr>
          </a:solidFill>
          <a:ln w="12700">
            <a:solidFill>
              <a:srgbClr val="FFD22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54"/>
          <p:cNvSpPr/>
          <p:nvPr/>
        </p:nvSpPr>
        <p:spPr>
          <a:xfrm>
            <a:off x="8645760" y="1193400"/>
            <a:ext cx="141480" cy="141480"/>
          </a:xfrm>
          <a:prstGeom prst="ellipse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55"/>
          <p:cNvSpPr/>
          <p:nvPr/>
        </p:nvSpPr>
        <p:spPr>
          <a:xfrm>
            <a:off x="8229600" y="33375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Maze: DFS Generated · Path: BFS Solved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56"/>
          <p:cNvSpPr/>
          <p:nvPr/>
        </p:nvSpPr>
        <p:spPr>
          <a:xfrm>
            <a:off x="8458200" y="3767400"/>
            <a:ext cx="164160" cy="16416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57"/>
          <p:cNvSpPr/>
          <p:nvPr/>
        </p:nvSpPr>
        <p:spPr>
          <a:xfrm>
            <a:off x="8705160" y="37033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58"/>
          <p:cNvSpPr/>
          <p:nvPr/>
        </p:nvSpPr>
        <p:spPr>
          <a:xfrm>
            <a:off x="8458200" y="4078080"/>
            <a:ext cx="164160" cy="164160"/>
          </a:xfrm>
          <a:prstGeom prst="rect">
            <a:avLst/>
          </a:prstGeom>
          <a:solidFill>
            <a:srgbClr val="DC3C3C"/>
          </a:solidFill>
          <a:ln w="12700">
            <a:solidFill>
              <a:srgbClr val="DC3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59"/>
          <p:cNvSpPr/>
          <p:nvPr/>
        </p:nvSpPr>
        <p:spPr>
          <a:xfrm>
            <a:off x="8705160" y="40143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Exit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60"/>
          <p:cNvSpPr/>
          <p:nvPr/>
        </p:nvSpPr>
        <p:spPr>
          <a:xfrm>
            <a:off x="8458200" y="4389120"/>
            <a:ext cx="164160" cy="16416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61"/>
          <p:cNvSpPr/>
          <p:nvPr/>
        </p:nvSpPr>
        <p:spPr>
          <a:xfrm>
            <a:off x="8705160" y="432504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Player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62"/>
          <p:cNvSpPr/>
          <p:nvPr/>
        </p:nvSpPr>
        <p:spPr>
          <a:xfrm>
            <a:off x="8458200" y="4700160"/>
            <a:ext cx="164160" cy="16416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63"/>
          <p:cNvSpPr/>
          <p:nvPr/>
        </p:nvSpPr>
        <p:spPr>
          <a:xfrm>
            <a:off x="8705160" y="463608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Shortest Path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64"/>
          <p:cNvSpPr/>
          <p:nvPr/>
        </p:nvSpPr>
        <p:spPr>
          <a:xfrm>
            <a:off x="0" y="6510600"/>
            <a:ext cx="12161160" cy="347040"/>
          </a:xfrm>
          <a:prstGeom prst="rect">
            <a:avLst/>
          </a:prstGeom>
          <a:solidFill>
            <a:srgbClr val="0D1535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65"/>
          <p:cNvSpPr/>
          <p:nvPr/>
        </p:nvSpPr>
        <p:spPr>
          <a:xfrm>
            <a:off x="0" y="6510600"/>
            <a:ext cx="1216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Academic Project  ·  Version 1.0  ·  Python + Pygame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85800" y="5486400"/>
            <a:ext cx="3886200" cy="102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Member 1: M.SamiKhan 64670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Memeber 2: M.Taha 55060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PROJECT OVERVIEW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02 / 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320040" y="1234440"/>
            <a:ext cx="5303160" cy="310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320040" y="1234440"/>
            <a:ext cx="82080" cy="310860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502920" y="137160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What Is This Project?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502920" y="18104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A fully playable 2D top-down maze game built with Python 3 and Pygame. The player navigates a randomly generated maze and can visualise the shortest path with a single key-press.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502920" y="265176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Core Concepts Demonstrated: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502920" y="30175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◆ DFS Algorithm 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Recursive backtracking maze generation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502920" y="33192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◆ BFS Algorithm 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Shortest-path visual overlay (S key)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502920" y="36208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◆ OOP Design 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Modular 6-file class-based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502920" y="39229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◆ Pygame UI 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60 FPS real-time rendering &amp;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5989320" y="1234440"/>
            <a:ext cx="3382920" cy="310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5989320" y="1234440"/>
            <a:ext cx="82080" cy="310860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6172200" y="137160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Gameplay Features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6172200" y="18745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Random maze generation (DFS)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6172200" y="21855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Three difficulty levels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6172200" y="24962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Arrow key player movement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6172200" y="28072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BFS path shown with S 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6172200" y="31179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Auto-solve animation (A key)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6172200" y="34290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Live timer &amp; step counter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2"/>
          <p:cNvSpPr/>
          <p:nvPr/>
        </p:nvSpPr>
        <p:spPr>
          <a:xfrm>
            <a:off x="6172200" y="3740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Win screen with game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6172200" y="40507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C86E"/>
                </a:solidFill>
                <a:effectLst/>
                <a:uFillTx/>
                <a:latin typeface="Calibri"/>
              </a:rPr>
              <a:t>✓  </a:t>
            </a: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New maze or restart anytime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4"/>
          <p:cNvSpPr/>
          <p:nvPr/>
        </p:nvSpPr>
        <p:spPr>
          <a:xfrm>
            <a:off x="9692640" y="1234440"/>
            <a:ext cx="2194200" cy="310860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5"/>
          <p:cNvSpPr/>
          <p:nvPr/>
        </p:nvSpPr>
        <p:spPr>
          <a:xfrm>
            <a:off x="9692640" y="13258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B8F5"/>
                </a:solidFill>
                <a:effectLst/>
                <a:uFillTx/>
                <a:latin typeface="Arial Black"/>
                <a:ea typeface="Arial Black"/>
              </a:rPr>
              <a:t>CONTROLS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6"/>
          <p:cNvSpPr/>
          <p:nvPr/>
        </p:nvSpPr>
        <p:spPr>
          <a:xfrm>
            <a:off x="9829800" y="181044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7"/>
          <p:cNvSpPr/>
          <p:nvPr/>
        </p:nvSpPr>
        <p:spPr>
          <a:xfrm>
            <a:off x="9829800" y="18104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↑↓←→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8"/>
          <p:cNvSpPr/>
          <p:nvPr/>
        </p:nvSpPr>
        <p:spPr>
          <a:xfrm>
            <a:off x="10497240" y="1810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Move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9"/>
          <p:cNvSpPr/>
          <p:nvPr/>
        </p:nvSpPr>
        <p:spPr>
          <a:xfrm>
            <a:off x="9829800" y="214884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0"/>
          <p:cNvSpPr/>
          <p:nvPr/>
        </p:nvSpPr>
        <p:spPr>
          <a:xfrm>
            <a:off x="9829800" y="21488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1"/>
          <p:cNvSpPr/>
          <p:nvPr/>
        </p:nvSpPr>
        <p:spPr>
          <a:xfrm>
            <a:off x="10497240" y="21488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BFS Path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32"/>
          <p:cNvSpPr/>
          <p:nvPr/>
        </p:nvSpPr>
        <p:spPr>
          <a:xfrm>
            <a:off x="9829800" y="248724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3"/>
          <p:cNvSpPr/>
          <p:nvPr/>
        </p:nvSpPr>
        <p:spPr>
          <a:xfrm>
            <a:off x="9829800" y="24872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4"/>
          <p:cNvSpPr/>
          <p:nvPr/>
        </p:nvSpPr>
        <p:spPr>
          <a:xfrm>
            <a:off x="10497240" y="24872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Auto-solve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5"/>
          <p:cNvSpPr/>
          <p:nvPr/>
        </p:nvSpPr>
        <p:spPr>
          <a:xfrm>
            <a:off x="9829800" y="282564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6"/>
          <p:cNvSpPr/>
          <p:nvPr/>
        </p:nvSpPr>
        <p:spPr>
          <a:xfrm>
            <a:off x="9829800" y="28256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7"/>
          <p:cNvSpPr/>
          <p:nvPr/>
        </p:nvSpPr>
        <p:spPr>
          <a:xfrm>
            <a:off x="10497240" y="28256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Restart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8"/>
          <p:cNvSpPr/>
          <p:nvPr/>
        </p:nvSpPr>
        <p:spPr>
          <a:xfrm>
            <a:off x="9829800" y="316368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9"/>
          <p:cNvSpPr/>
          <p:nvPr/>
        </p:nvSpPr>
        <p:spPr>
          <a:xfrm>
            <a:off x="9829800" y="316368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0"/>
          <p:cNvSpPr/>
          <p:nvPr/>
        </p:nvSpPr>
        <p:spPr>
          <a:xfrm>
            <a:off x="10497240" y="31636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New Maze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1"/>
          <p:cNvSpPr/>
          <p:nvPr/>
        </p:nvSpPr>
        <p:spPr>
          <a:xfrm>
            <a:off x="9829800" y="350208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2"/>
          <p:cNvSpPr/>
          <p:nvPr/>
        </p:nvSpPr>
        <p:spPr>
          <a:xfrm>
            <a:off x="9829800" y="350208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1/2/3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3"/>
          <p:cNvSpPr/>
          <p:nvPr/>
        </p:nvSpPr>
        <p:spPr>
          <a:xfrm>
            <a:off x="10497240" y="35020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Difficulty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4"/>
          <p:cNvSpPr/>
          <p:nvPr/>
        </p:nvSpPr>
        <p:spPr>
          <a:xfrm>
            <a:off x="9829800" y="3840480"/>
            <a:ext cx="594000" cy="273960"/>
          </a:xfrm>
          <a:prstGeom prst="roundRect">
            <a:avLst>
              <a:gd name="adj" fmla="val 16667"/>
            </a:avLst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5"/>
          <p:cNvSpPr/>
          <p:nvPr/>
        </p:nvSpPr>
        <p:spPr>
          <a:xfrm>
            <a:off x="9829800" y="384048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Q/ESC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6"/>
          <p:cNvSpPr/>
          <p:nvPr/>
        </p:nvSpPr>
        <p:spPr>
          <a:xfrm>
            <a:off x="10497240" y="38404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Quit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7"/>
          <p:cNvSpPr/>
          <p:nvPr/>
        </p:nvSpPr>
        <p:spPr>
          <a:xfrm>
            <a:off x="320040" y="4617720"/>
            <a:ext cx="2834280" cy="9140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8"/>
          <p:cNvSpPr/>
          <p:nvPr/>
        </p:nvSpPr>
        <p:spPr>
          <a:xfrm>
            <a:off x="320040" y="46634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B8F5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9"/>
          <p:cNvSpPr/>
          <p:nvPr/>
        </p:nvSpPr>
        <p:spPr>
          <a:xfrm>
            <a:off x="320040" y="512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Difficulty Levels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50"/>
          <p:cNvSpPr/>
          <p:nvPr/>
        </p:nvSpPr>
        <p:spPr>
          <a:xfrm>
            <a:off x="3246120" y="4617720"/>
            <a:ext cx="2834280" cy="9140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1"/>
          <p:cNvSpPr/>
          <p:nvPr/>
        </p:nvSpPr>
        <p:spPr>
          <a:xfrm>
            <a:off x="3246120" y="46634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B8F5"/>
                </a:solidFill>
                <a:effectLst/>
                <a:uFillTx/>
                <a:latin typeface="Arial Black"/>
                <a:ea typeface="Arial Black"/>
              </a:rPr>
              <a:t>900×750 px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2"/>
          <p:cNvSpPr/>
          <p:nvPr/>
        </p:nvSpPr>
        <p:spPr>
          <a:xfrm>
            <a:off x="3246120" y="512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Window Resolution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53"/>
          <p:cNvSpPr/>
          <p:nvPr/>
        </p:nvSpPr>
        <p:spPr>
          <a:xfrm>
            <a:off x="6172200" y="4617720"/>
            <a:ext cx="2834280" cy="9140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4"/>
          <p:cNvSpPr/>
          <p:nvPr/>
        </p:nvSpPr>
        <p:spPr>
          <a:xfrm>
            <a:off x="6172200" y="46634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B8F5"/>
                </a:solidFill>
                <a:effectLst/>
                <a:uFillTx/>
                <a:latin typeface="Arial Black"/>
                <a:ea typeface="Arial Black"/>
              </a:rPr>
              <a:t>60 FPS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5"/>
          <p:cNvSpPr/>
          <p:nvPr/>
        </p:nvSpPr>
        <p:spPr>
          <a:xfrm>
            <a:off x="6172200" y="512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Frame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56"/>
          <p:cNvSpPr/>
          <p:nvPr/>
        </p:nvSpPr>
        <p:spPr>
          <a:xfrm>
            <a:off x="9098280" y="4617720"/>
            <a:ext cx="2834280" cy="9140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7"/>
          <p:cNvSpPr/>
          <p:nvPr/>
        </p:nvSpPr>
        <p:spPr>
          <a:xfrm>
            <a:off x="9098280" y="46634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B8F5"/>
                </a:solidFill>
                <a:effectLst/>
                <a:uFillTx/>
                <a:latin typeface="Arial Black"/>
                <a:ea typeface="Arial Black"/>
              </a:rPr>
              <a:t>Python 3.10+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8"/>
          <p:cNvSpPr/>
          <p:nvPr/>
        </p:nvSpPr>
        <p:spPr>
          <a:xfrm>
            <a:off x="9098280" y="512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Language Required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D1535"/>
          </a:solidFill>
          <a:ln w="12700">
            <a:solidFill>
              <a:srgbClr val="0D1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0" y="1005840"/>
            <a:ext cx="12161160" cy="4536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MODULE ARCHITECTURE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03 / 08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228600" y="118872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3DB8F5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228600" y="1188720"/>
            <a:ext cx="3748680" cy="6372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365760" y="13258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main.py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365760" y="17100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Entry Point / Game Loop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365760" y="207576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Pygame init · event loop · state orchestration · difficulty switching · auto-solve animation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4251960" y="118872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27C86E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4251960" y="1188720"/>
            <a:ext cx="3748680" cy="6372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4389120" y="13258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maze_generator.py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4389120" y="17100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DFS Maze Engine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3"/>
          <p:cNvSpPr/>
          <p:nvPr/>
        </p:nvSpPr>
        <p:spPr>
          <a:xfrm>
            <a:off x="4389120" y="207576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Cell &amp; Maze classes · iterative DFS generation · wall carving · timing measurement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4"/>
          <p:cNvSpPr/>
          <p:nvPr/>
        </p:nvSpPr>
        <p:spPr>
          <a:xfrm>
            <a:off x="8275320" y="118872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FFD228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5"/>
          <p:cNvSpPr/>
          <p:nvPr/>
        </p:nvSpPr>
        <p:spPr>
          <a:xfrm>
            <a:off x="8275320" y="1188720"/>
            <a:ext cx="3748680" cy="6372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6"/>
          <p:cNvSpPr/>
          <p:nvPr/>
        </p:nvSpPr>
        <p:spPr>
          <a:xfrm>
            <a:off x="8412480" y="13258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path_solver.py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7"/>
          <p:cNvSpPr/>
          <p:nvPr/>
        </p:nvSpPr>
        <p:spPr>
          <a:xfrm>
            <a:off x="8412480" y="17100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BFS Path Solver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8412480" y="207576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BFS shortest-path search · parent tracking · path reconstruction · elapsed-time output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9"/>
          <p:cNvSpPr/>
          <p:nvPr/>
        </p:nvSpPr>
        <p:spPr>
          <a:xfrm>
            <a:off x="228600" y="356616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FF7043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0"/>
          <p:cNvSpPr/>
          <p:nvPr/>
        </p:nvSpPr>
        <p:spPr>
          <a:xfrm>
            <a:off x="228600" y="3566160"/>
            <a:ext cx="3748680" cy="63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1"/>
          <p:cNvSpPr/>
          <p:nvPr/>
        </p:nvSpPr>
        <p:spPr>
          <a:xfrm>
            <a:off x="365760" y="37033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7043"/>
                </a:solidFill>
                <a:effectLst/>
                <a:uFillTx/>
                <a:latin typeface="Consolas"/>
                <a:ea typeface="Consolas"/>
              </a:rPr>
              <a:t>player.py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2"/>
          <p:cNvSpPr/>
          <p:nvPr/>
        </p:nvSpPr>
        <p:spPr>
          <a:xfrm>
            <a:off x="365760" y="4087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Player State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365760" y="445320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Player position · directional movement · wall-collision check · step counter · reset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4"/>
          <p:cNvSpPr/>
          <p:nvPr/>
        </p:nvSpPr>
        <p:spPr>
          <a:xfrm>
            <a:off x="4251960" y="356616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AB47B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5"/>
          <p:cNvSpPr/>
          <p:nvPr/>
        </p:nvSpPr>
        <p:spPr>
          <a:xfrm>
            <a:off x="4251960" y="3566160"/>
            <a:ext cx="374868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6"/>
          <p:cNvSpPr/>
          <p:nvPr/>
        </p:nvSpPr>
        <p:spPr>
          <a:xfrm>
            <a:off x="4389120" y="37033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B47BC"/>
                </a:solidFill>
                <a:effectLst/>
                <a:uFillTx/>
                <a:latin typeface="Consolas"/>
                <a:ea typeface="Consolas"/>
              </a:rPr>
              <a:t>ui.py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7"/>
          <p:cNvSpPr/>
          <p:nvPr/>
        </p:nvSpPr>
        <p:spPr>
          <a:xfrm>
            <a:off x="4389120" y="4087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Pygame Renderer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8"/>
          <p:cNvSpPr/>
          <p:nvPr/>
        </p:nvSpPr>
        <p:spPr>
          <a:xfrm>
            <a:off x="4389120" y="445320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Maze drawing · BFS overlay · HUD · player/exit rendering · win screen · hint panel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9"/>
          <p:cNvSpPr/>
          <p:nvPr/>
        </p:nvSpPr>
        <p:spPr>
          <a:xfrm>
            <a:off x="8275320" y="3566160"/>
            <a:ext cx="3748680" cy="2011320"/>
          </a:xfrm>
          <a:prstGeom prst="rect">
            <a:avLst/>
          </a:prstGeom>
          <a:solidFill>
            <a:srgbClr val="111C3A"/>
          </a:solidFill>
          <a:ln w="12700">
            <a:solidFill>
              <a:srgbClr val="EC407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0"/>
          <p:cNvSpPr/>
          <p:nvPr/>
        </p:nvSpPr>
        <p:spPr>
          <a:xfrm>
            <a:off x="8275320" y="3566160"/>
            <a:ext cx="3748680" cy="63720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1"/>
          <p:cNvSpPr/>
          <p:nvPr/>
        </p:nvSpPr>
        <p:spPr>
          <a:xfrm>
            <a:off x="8412480" y="37033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C407A"/>
                </a:solidFill>
                <a:effectLst/>
                <a:uFillTx/>
                <a:latin typeface="Consolas"/>
                <a:ea typeface="Consolas"/>
              </a:rPr>
              <a:t>settings.py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2"/>
          <p:cNvSpPr/>
          <p:nvPr/>
        </p:nvSpPr>
        <p:spPr>
          <a:xfrm>
            <a:off x="8412480" y="4087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Global Constants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3"/>
          <p:cNvSpPr/>
          <p:nvPr/>
        </p:nvSpPr>
        <p:spPr>
          <a:xfrm>
            <a:off x="8412480" y="445320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Window config · colour palette · difficulty levels · font sizes · FPS · cell sizing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4"/>
          <p:cNvSpPr/>
          <p:nvPr/>
        </p:nvSpPr>
        <p:spPr>
          <a:xfrm>
            <a:off x="228600" y="5806440"/>
            <a:ext cx="11703960" cy="776880"/>
          </a:xfrm>
          <a:prstGeom prst="rect">
            <a:avLst/>
          </a:prstGeom>
          <a:solidFill>
            <a:srgbClr val="0D1535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5"/>
          <p:cNvSpPr/>
          <p:nvPr/>
        </p:nvSpPr>
        <p:spPr>
          <a:xfrm>
            <a:off x="365760" y="5806440"/>
            <a:ext cx="1161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Dependency Flow:   main.py  →  maze_generator.py  ·  path_solver.py  ·  player.py  ·  ui.py  ·  settings.py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DFS MAZE GENERATION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04 / 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4"/>
          <p:cNvSpPr/>
          <p:nvPr/>
        </p:nvSpPr>
        <p:spPr>
          <a:xfrm>
            <a:off x="320040" y="1234440"/>
            <a:ext cx="5486040" cy="352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320040" y="1234440"/>
            <a:ext cx="82080" cy="352008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502920" y="13716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Algorithm Steps — Recursive Backtracking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502920" y="186552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8"/>
          <p:cNvSpPr/>
          <p:nvPr/>
        </p:nvSpPr>
        <p:spPr>
          <a:xfrm>
            <a:off x="502920" y="18655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9"/>
          <p:cNvSpPr/>
          <p:nvPr/>
        </p:nvSpPr>
        <p:spPr>
          <a:xfrm>
            <a:off x="850320" y="18288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Start at cell (0, 0) — mark it visited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0"/>
          <p:cNvSpPr/>
          <p:nvPr/>
        </p:nvSpPr>
        <p:spPr>
          <a:xfrm>
            <a:off x="502920" y="224928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1"/>
          <p:cNvSpPr/>
          <p:nvPr/>
        </p:nvSpPr>
        <p:spPr>
          <a:xfrm>
            <a:off x="502920" y="2249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2"/>
          <p:cNvSpPr/>
          <p:nvPr/>
        </p:nvSpPr>
        <p:spPr>
          <a:xfrm>
            <a:off x="850320" y="221292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Push it onto an explicit stack (iterative DFS)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3"/>
          <p:cNvSpPr/>
          <p:nvPr/>
        </p:nvSpPr>
        <p:spPr>
          <a:xfrm>
            <a:off x="502920" y="263340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4"/>
          <p:cNvSpPr/>
          <p:nvPr/>
        </p:nvSpPr>
        <p:spPr>
          <a:xfrm>
            <a:off x="502920" y="26334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5"/>
          <p:cNvSpPr/>
          <p:nvPr/>
        </p:nvSpPr>
        <p:spPr>
          <a:xfrm>
            <a:off x="850320" y="25970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While stack is not empty, peek at the top cell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6"/>
          <p:cNvSpPr/>
          <p:nvPr/>
        </p:nvSpPr>
        <p:spPr>
          <a:xfrm>
            <a:off x="502920" y="301752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502920" y="30175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8"/>
          <p:cNvSpPr/>
          <p:nvPr/>
        </p:nvSpPr>
        <p:spPr>
          <a:xfrm>
            <a:off x="850320" y="29808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Find all unvisited neighbours in N/S/E/W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502920" y="340164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0"/>
          <p:cNvSpPr/>
          <p:nvPr/>
        </p:nvSpPr>
        <p:spPr>
          <a:xfrm>
            <a:off x="502920" y="34016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1"/>
          <p:cNvSpPr/>
          <p:nvPr/>
        </p:nvSpPr>
        <p:spPr>
          <a:xfrm>
            <a:off x="850320" y="336492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Randomly pick one — carve the shared wall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2"/>
          <p:cNvSpPr/>
          <p:nvPr/>
        </p:nvSpPr>
        <p:spPr>
          <a:xfrm>
            <a:off x="502920" y="378576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3"/>
          <p:cNvSpPr/>
          <p:nvPr/>
        </p:nvSpPr>
        <p:spPr>
          <a:xfrm>
            <a:off x="502920" y="37857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4"/>
          <p:cNvSpPr/>
          <p:nvPr/>
        </p:nvSpPr>
        <p:spPr>
          <a:xfrm>
            <a:off x="850320" y="37490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Mark the neighbour visited — push onto stack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5"/>
          <p:cNvSpPr/>
          <p:nvPr/>
        </p:nvSpPr>
        <p:spPr>
          <a:xfrm>
            <a:off x="502920" y="416952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6"/>
          <p:cNvSpPr/>
          <p:nvPr/>
        </p:nvSpPr>
        <p:spPr>
          <a:xfrm>
            <a:off x="502920" y="41695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7"/>
          <p:cNvSpPr/>
          <p:nvPr/>
        </p:nvSpPr>
        <p:spPr>
          <a:xfrm>
            <a:off x="850320" y="413316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If no unvisited neighbours remain — pop (backtrack)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8"/>
          <p:cNvSpPr/>
          <p:nvPr/>
        </p:nvSpPr>
        <p:spPr>
          <a:xfrm>
            <a:off x="502920" y="4553640"/>
            <a:ext cx="255600" cy="255600"/>
          </a:xfrm>
          <a:prstGeom prst="ellipse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9"/>
          <p:cNvSpPr/>
          <p:nvPr/>
        </p:nvSpPr>
        <p:spPr>
          <a:xfrm>
            <a:off x="502920" y="45536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0"/>
          <p:cNvSpPr/>
          <p:nvPr/>
        </p:nvSpPr>
        <p:spPr>
          <a:xfrm>
            <a:off x="850320" y="451728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Repeat until stack empty — all cells visited → done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1"/>
          <p:cNvSpPr/>
          <p:nvPr/>
        </p:nvSpPr>
        <p:spPr>
          <a:xfrm>
            <a:off x="320040" y="4864680"/>
            <a:ext cx="5486040" cy="82260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2"/>
          <p:cNvSpPr/>
          <p:nvPr/>
        </p:nvSpPr>
        <p:spPr>
          <a:xfrm>
            <a:off x="457200" y="486468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Time:  O(V)  </a:t>
            </a: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onsolas"/>
              </a:rPr>
              <a:t>each cell visited exactly once     </a:t>
            </a:r>
            <a:r>
              <a:rPr lang="en-US" sz="1300" b="1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Space: O(V)  </a:t>
            </a: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onsolas"/>
              </a:rPr>
              <a:t>iterative stack depth  (V = rows × cols)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3"/>
          <p:cNvSpPr/>
          <p:nvPr/>
        </p:nvSpPr>
        <p:spPr>
          <a:xfrm>
            <a:off x="6126480" y="1234440"/>
            <a:ext cx="5760360" cy="44528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4"/>
          <p:cNvSpPr/>
          <p:nvPr/>
        </p:nvSpPr>
        <p:spPr>
          <a:xfrm>
            <a:off x="6309360" y="1325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maze_generator.py  —  generate()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5"/>
          <p:cNvSpPr/>
          <p:nvPr/>
        </p:nvSpPr>
        <p:spPr>
          <a:xfrm>
            <a:off x="6309360" y="1673280"/>
            <a:ext cx="5394960" cy="360"/>
          </a:xfrm>
          <a:prstGeom prst="line">
            <a:avLst/>
          </a:prstGeom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6"/>
          <p:cNvSpPr/>
          <p:nvPr/>
        </p:nvSpPr>
        <p:spPr>
          <a:xfrm>
            <a:off x="6309360" y="178308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def generate(self) -&gt; None: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7"/>
          <p:cNvSpPr/>
          <p:nvPr/>
        </p:nvSpPr>
        <p:spPr>
          <a:xfrm>
            <a:off x="6309360" y="201636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stack = [self.grid[0][0]]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8"/>
          <p:cNvSpPr/>
          <p:nvPr/>
        </p:nvSpPr>
        <p:spPr>
          <a:xfrm>
            <a:off x="6309360" y="224928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start_cell.visited = 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9"/>
          <p:cNvSpPr/>
          <p:nvPr/>
        </p:nvSpPr>
        <p:spPr>
          <a:xfrm>
            <a:off x="6309360" y="248256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 40"/>
          <p:cNvSpPr/>
          <p:nvPr/>
        </p:nvSpPr>
        <p:spPr>
          <a:xfrm>
            <a:off x="6309360" y="271584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    while stack: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1"/>
          <p:cNvSpPr/>
          <p:nvPr/>
        </p:nvSpPr>
        <p:spPr>
          <a:xfrm>
            <a:off x="6309360" y="294912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current = stack[-1]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2"/>
          <p:cNvSpPr/>
          <p:nvPr/>
        </p:nvSpPr>
        <p:spPr>
          <a:xfrm>
            <a:off x="6309360" y="318204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neighbours =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3"/>
          <p:cNvSpPr/>
          <p:nvPr/>
        </p:nvSpPr>
        <p:spPr>
          <a:xfrm>
            <a:off x="6309360" y="341532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890BE"/>
                </a:solidFill>
                <a:effectLst/>
                <a:uFillTx/>
                <a:latin typeface="Consolas"/>
                <a:ea typeface="Consolas"/>
              </a:rPr>
              <a:t>            self._unvisited_neighbours(current)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44"/>
          <p:cNvSpPr/>
          <p:nvPr/>
        </p:nvSpPr>
        <p:spPr>
          <a:xfrm>
            <a:off x="6309360" y="364860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 45"/>
          <p:cNvSpPr/>
          <p:nvPr/>
        </p:nvSpPr>
        <p:spPr>
          <a:xfrm>
            <a:off x="6309360" y="388152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        if neighbours: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6"/>
          <p:cNvSpPr/>
          <p:nvPr/>
        </p:nvSpPr>
        <p:spPr>
          <a:xfrm>
            <a:off x="6309360" y="411480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dir, nbr = random.choice(neighbours)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7"/>
          <p:cNvSpPr/>
          <p:nvPr/>
        </p:nvSpPr>
        <p:spPr>
          <a:xfrm>
            <a:off x="6309360" y="434808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            current.walls[dir] = False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48"/>
          <p:cNvSpPr/>
          <p:nvPr/>
        </p:nvSpPr>
        <p:spPr>
          <a:xfrm>
            <a:off x="6309360" y="458100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            nbr.walls[OPPOSITE[dir]] = False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9"/>
          <p:cNvSpPr/>
          <p:nvPr/>
        </p:nvSpPr>
        <p:spPr>
          <a:xfrm>
            <a:off x="6309360" y="481428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nbr.visited = 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0"/>
          <p:cNvSpPr/>
          <p:nvPr/>
        </p:nvSpPr>
        <p:spPr>
          <a:xfrm>
            <a:off x="6309360" y="504756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stack.append(nbr)  # go deeper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51"/>
          <p:cNvSpPr/>
          <p:nvPr/>
        </p:nvSpPr>
        <p:spPr>
          <a:xfrm>
            <a:off x="6309360" y="528084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        else: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2"/>
          <p:cNvSpPr/>
          <p:nvPr/>
        </p:nvSpPr>
        <p:spPr>
          <a:xfrm>
            <a:off x="6309360" y="551376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890BE"/>
                </a:solidFill>
                <a:effectLst/>
                <a:uFillTx/>
                <a:latin typeface="Consolas"/>
                <a:ea typeface="Consolas"/>
              </a:rPr>
              <a:t>            stack.pop()  # dead end: backtrack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D1535"/>
          </a:solidFill>
          <a:ln w="12700">
            <a:solidFill>
              <a:srgbClr val="0D1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BFS SHORTEST PATH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05 / 08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320040" y="1234440"/>
            <a:ext cx="5303160" cy="352008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320040" y="1234440"/>
            <a:ext cx="82080" cy="352008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502920" y="13716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BFS Algorithm — Step by Step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7"/>
          <p:cNvSpPr/>
          <p:nvPr/>
        </p:nvSpPr>
        <p:spPr>
          <a:xfrm>
            <a:off x="502920" y="189288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8"/>
          <p:cNvSpPr/>
          <p:nvPr/>
        </p:nvSpPr>
        <p:spPr>
          <a:xfrm>
            <a:off x="502920" y="189288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9"/>
          <p:cNvSpPr/>
          <p:nvPr/>
        </p:nvSpPr>
        <p:spPr>
          <a:xfrm>
            <a:off x="850320" y="184716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Enqueue player's start position; mark as visited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502920" y="227700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1"/>
          <p:cNvSpPr/>
          <p:nvPr/>
        </p:nvSpPr>
        <p:spPr>
          <a:xfrm>
            <a:off x="502920" y="227700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850320" y="223128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Dequeue the front cell (FIFO — guaranteed shortest)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3"/>
          <p:cNvSpPr/>
          <p:nvPr/>
        </p:nvSpPr>
        <p:spPr>
          <a:xfrm>
            <a:off x="502920" y="266076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4"/>
          <p:cNvSpPr/>
          <p:nvPr/>
        </p:nvSpPr>
        <p:spPr>
          <a:xfrm>
            <a:off x="502920" y="266076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850320" y="261504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If current cell equals exit_pos — stop &amp; reconstruct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6"/>
          <p:cNvSpPr/>
          <p:nvPr/>
        </p:nvSpPr>
        <p:spPr>
          <a:xfrm>
            <a:off x="502920" y="304488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7"/>
          <p:cNvSpPr/>
          <p:nvPr/>
        </p:nvSpPr>
        <p:spPr>
          <a:xfrm>
            <a:off x="502920" y="304488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8"/>
          <p:cNvSpPr/>
          <p:nvPr/>
        </p:nvSpPr>
        <p:spPr>
          <a:xfrm>
            <a:off x="850320" y="299916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For each direction (N/S/E/W) check for open walls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9"/>
          <p:cNvSpPr/>
          <p:nvPr/>
        </p:nvSpPr>
        <p:spPr>
          <a:xfrm>
            <a:off x="502920" y="342900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502920" y="342900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850320" y="338328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If passage open — enqueue the unvisited neighbour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2"/>
          <p:cNvSpPr/>
          <p:nvPr/>
        </p:nvSpPr>
        <p:spPr>
          <a:xfrm>
            <a:off x="502920" y="381312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3"/>
          <p:cNvSpPr/>
          <p:nvPr/>
        </p:nvSpPr>
        <p:spPr>
          <a:xfrm>
            <a:off x="502920" y="381312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4"/>
          <p:cNvSpPr/>
          <p:nvPr/>
        </p:nvSpPr>
        <p:spPr>
          <a:xfrm>
            <a:off x="850320" y="37674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Record parent[neighbour] = current for path tracing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5"/>
          <p:cNvSpPr/>
          <p:nvPr/>
        </p:nvSpPr>
        <p:spPr>
          <a:xfrm>
            <a:off x="502920" y="419724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6"/>
          <p:cNvSpPr/>
          <p:nvPr/>
        </p:nvSpPr>
        <p:spPr>
          <a:xfrm>
            <a:off x="502920" y="419724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7"/>
          <p:cNvSpPr/>
          <p:nvPr/>
        </p:nvSpPr>
        <p:spPr>
          <a:xfrm>
            <a:off x="850320" y="415152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Continue until queue is empty or exit is reached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8"/>
          <p:cNvSpPr/>
          <p:nvPr/>
        </p:nvSpPr>
        <p:spPr>
          <a:xfrm>
            <a:off x="502920" y="4581000"/>
            <a:ext cx="255600" cy="23724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9"/>
          <p:cNvSpPr/>
          <p:nvPr/>
        </p:nvSpPr>
        <p:spPr>
          <a:xfrm>
            <a:off x="502920" y="4581000"/>
            <a:ext cx="255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0"/>
          <p:cNvSpPr/>
          <p:nvPr/>
        </p:nvSpPr>
        <p:spPr>
          <a:xfrm>
            <a:off x="850320" y="453528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CFF"/>
                </a:solidFill>
                <a:effectLst/>
                <a:uFillTx/>
                <a:latin typeface="Calibri"/>
                <a:ea typeface="Calibri"/>
              </a:rPr>
              <a:t>Walk parent chain backwards → reverse → shortest path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1"/>
          <p:cNvSpPr/>
          <p:nvPr/>
        </p:nvSpPr>
        <p:spPr>
          <a:xfrm>
            <a:off x="320040" y="4864680"/>
            <a:ext cx="5303160" cy="822600"/>
          </a:xfrm>
          <a:prstGeom prst="rect">
            <a:avLst/>
          </a:prstGeom>
          <a:solidFill>
            <a:srgbClr val="0A0F2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2"/>
          <p:cNvSpPr/>
          <p:nvPr/>
        </p:nvSpPr>
        <p:spPr>
          <a:xfrm>
            <a:off x="457200" y="486468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Time: O(V+E)  </a:t>
            </a: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onsolas"/>
              </a:rPr>
              <a:t>V=cells · E=open passages     </a:t>
            </a:r>
            <a:r>
              <a:rPr lang="en-US" sz="13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Space: O(V)  </a:t>
            </a: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onsolas"/>
              </a:rPr>
              <a:t>parent dict + visited set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33"/>
          <p:cNvSpPr/>
          <p:nvPr/>
        </p:nvSpPr>
        <p:spPr>
          <a:xfrm>
            <a:off x="5989320" y="1234440"/>
            <a:ext cx="5897520" cy="445284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4"/>
          <p:cNvSpPr/>
          <p:nvPr/>
        </p:nvSpPr>
        <p:spPr>
          <a:xfrm>
            <a:off x="6172200" y="1325880"/>
            <a:ext cx="557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path_solver.py  —  bfs_shortest_path()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5"/>
          <p:cNvSpPr/>
          <p:nvPr/>
        </p:nvSpPr>
        <p:spPr>
          <a:xfrm>
            <a:off x="6172200" y="1673280"/>
            <a:ext cx="5486400" cy="360"/>
          </a:xfrm>
          <a:prstGeom prst="line">
            <a:avLst/>
          </a:prstGeom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6"/>
          <p:cNvSpPr/>
          <p:nvPr/>
        </p:nvSpPr>
        <p:spPr>
          <a:xfrm>
            <a:off x="6172200" y="180144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def bfs_shortest_path(maze, start, exit_pos):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7"/>
          <p:cNvSpPr/>
          <p:nvPr/>
        </p:nvSpPr>
        <p:spPr>
          <a:xfrm>
            <a:off x="6172200" y="20347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queue = deque([start])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8"/>
          <p:cNvSpPr/>
          <p:nvPr/>
        </p:nvSpPr>
        <p:spPr>
          <a:xfrm>
            <a:off x="6172200" y="226764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parent = {start: None}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9"/>
          <p:cNvSpPr/>
          <p:nvPr/>
        </p:nvSpPr>
        <p:spPr>
          <a:xfrm>
            <a:off x="6172200" y="25009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 40"/>
          <p:cNvSpPr/>
          <p:nvPr/>
        </p:nvSpPr>
        <p:spPr>
          <a:xfrm>
            <a:off x="6172200" y="273420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    while queue: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1"/>
          <p:cNvSpPr/>
          <p:nvPr/>
        </p:nvSpPr>
        <p:spPr>
          <a:xfrm>
            <a:off x="6172200" y="29671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current = queue.popleft()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2"/>
          <p:cNvSpPr/>
          <p:nvPr/>
        </p:nvSpPr>
        <p:spPr>
          <a:xfrm>
            <a:off x="6172200" y="320040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        if current == exit_pos: break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3"/>
          <p:cNvSpPr/>
          <p:nvPr/>
        </p:nvSpPr>
        <p:spPr>
          <a:xfrm>
            <a:off x="6172200" y="343368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 44"/>
          <p:cNvSpPr/>
          <p:nvPr/>
        </p:nvSpPr>
        <p:spPr>
          <a:xfrm>
            <a:off x="6172200" y="366660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row, col = current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5"/>
          <p:cNvSpPr/>
          <p:nvPr/>
        </p:nvSpPr>
        <p:spPr>
          <a:xfrm>
            <a:off x="6172200" y="389988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cell = maze.cell(row, col)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6"/>
          <p:cNvSpPr/>
          <p:nvPr/>
        </p:nvSpPr>
        <p:spPr>
          <a:xfrm>
            <a:off x="6172200" y="413316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        for dir, (dr, dc) in _DELTA.items():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7"/>
          <p:cNvSpPr/>
          <p:nvPr/>
        </p:nvSpPr>
        <p:spPr>
          <a:xfrm>
            <a:off x="6172200" y="436644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if not cell.walls[dir]: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8"/>
          <p:cNvSpPr/>
          <p:nvPr/>
        </p:nvSpPr>
        <p:spPr>
          <a:xfrm>
            <a:off x="6172200" y="459936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    nbr = (row+dr, col+dc)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9"/>
          <p:cNvSpPr/>
          <p:nvPr/>
        </p:nvSpPr>
        <p:spPr>
          <a:xfrm>
            <a:off x="6172200" y="483264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CFF"/>
                </a:solidFill>
                <a:effectLst/>
                <a:uFillTx/>
                <a:latin typeface="Consolas"/>
                <a:ea typeface="Consolas"/>
              </a:rPr>
              <a:t>                if nbr not in parent: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50"/>
          <p:cNvSpPr/>
          <p:nvPr/>
        </p:nvSpPr>
        <p:spPr>
          <a:xfrm>
            <a:off x="6172200" y="50659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                    parent[nbr] = current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1"/>
          <p:cNvSpPr/>
          <p:nvPr/>
        </p:nvSpPr>
        <p:spPr>
          <a:xfrm>
            <a:off x="6172200" y="529884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                    queue.append(nbr)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52"/>
          <p:cNvSpPr/>
          <p:nvPr/>
        </p:nvSpPr>
        <p:spPr>
          <a:xfrm>
            <a:off x="6172200" y="5532120"/>
            <a:ext cx="557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890BE"/>
                </a:solidFill>
                <a:effectLst/>
                <a:uFillTx/>
                <a:latin typeface="Consolas"/>
                <a:ea typeface="Consolas"/>
              </a:rPr>
              <a:t>    # Reconstruct: walk parent chain backwards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DATA STRUCTURES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06 / 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320040" y="1234440"/>
            <a:ext cx="55774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320040" y="1234440"/>
            <a:ext cx="82080" cy="219420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502920" y="137160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① 2D Cell Grid — maze.grid[rows][cols]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502920" y="175572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Each cell stores 4 wall booleans (N/S/E/W). DFS carves passages by flipping wall flags to False.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8"/>
          <p:cNvSpPr/>
          <p:nvPr/>
        </p:nvSpPr>
        <p:spPr>
          <a:xfrm>
            <a:off x="50292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74988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0"/>
          <p:cNvSpPr/>
          <p:nvPr/>
        </p:nvSpPr>
        <p:spPr>
          <a:xfrm>
            <a:off x="99684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1"/>
          <p:cNvSpPr/>
          <p:nvPr/>
        </p:nvSpPr>
        <p:spPr>
          <a:xfrm>
            <a:off x="124344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2"/>
          <p:cNvSpPr/>
          <p:nvPr/>
        </p:nvSpPr>
        <p:spPr>
          <a:xfrm>
            <a:off x="149040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173736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4"/>
          <p:cNvSpPr/>
          <p:nvPr/>
        </p:nvSpPr>
        <p:spPr>
          <a:xfrm>
            <a:off x="1984320" y="22312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5"/>
          <p:cNvSpPr/>
          <p:nvPr/>
        </p:nvSpPr>
        <p:spPr>
          <a:xfrm>
            <a:off x="502920" y="24778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6"/>
          <p:cNvSpPr/>
          <p:nvPr/>
        </p:nvSpPr>
        <p:spPr>
          <a:xfrm>
            <a:off x="749880" y="247788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7"/>
          <p:cNvSpPr/>
          <p:nvPr/>
        </p:nvSpPr>
        <p:spPr>
          <a:xfrm>
            <a:off x="996840" y="247788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8"/>
          <p:cNvSpPr/>
          <p:nvPr/>
        </p:nvSpPr>
        <p:spPr>
          <a:xfrm>
            <a:off x="1243440" y="247788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9"/>
          <p:cNvSpPr/>
          <p:nvPr/>
        </p:nvSpPr>
        <p:spPr>
          <a:xfrm>
            <a:off x="1490400" y="24778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0"/>
          <p:cNvSpPr/>
          <p:nvPr/>
        </p:nvSpPr>
        <p:spPr>
          <a:xfrm>
            <a:off x="1737360" y="247788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1"/>
          <p:cNvSpPr/>
          <p:nvPr/>
        </p:nvSpPr>
        <p:spPr>
          <a:xfrm>
            <a:off x="1984320" y="247788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2"/>
          <p:cNvSpPr/>
          <p:nvPr/>
        </p:nvSpPr>
        <p:spPr>
          <a:xfrm>
            <a:off x="502920" y="272484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3"/>
          <p:cNvSpPr/>
          <p:nvPr/>
        </p:nvSpPr>
        <p:spPr>
          <a:xfrm>
            <a:off x="749880" y="272484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4"/>
          <p:cNvSpPr/>
          <p:nvPr/>
        </p:nvSpPr>
        <p:spPr>
          <a:xfrm>
            <a:off x="996840" y="272484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5"/>
          <p:cNvSpPr/>
          <p:nvPr/>
        </p:nvSpPr>
        <p:spPr>
          <a:xfrm>
            <a:off x="1243440" y="272484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6"/>
          <p:cNvSpPr/>
          <p:nvPr/>
        </p:nvSpPr>
        <p:spPr>
          <a:xfrm>
            <a:off x="1490400" y="272484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7"/>
          <p:cNvSpPr/>
          <p:nvPr/>
        </p:nvSpPr>
        <p:spPr>
          <a:xfrm>
            <a:off x="1737360" y="272484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8"/>
          <p:cNvSpPr/>
          <p:nvPr/>
        </p:nvSpPr>
        <p:spPr>
          <a:xfrm>
            <a:off x="1984320" y="272484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9"/>
          <p:cNvSpPr/>
          <p:nvPr/>
        </p:nvSpPr>
        <p:spPr>
          <a:xfrm>
            <a:off x="502920" y="297180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0"/>
          <p:cNvSpPr/>
          <p:nvPr/>
        </p:nvSpPr>
        <p:spPr>
          <a:xfrm>
            <a:off x="749880" y="297180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31"/>
          <p:cNvSpPr/>
          <p:nvPr/>
        </p:nvSpPr>
        <p:spPr>
          <a:xfrm>
            <a:off x="996840" y="297180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2"/>
          <p:cNvSpPr/>
          <p:nvPr/>
        </p:nvSpPr>
        <p:spPr>
          <a:xfrm>
            <a:off x="1243440" y="297180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3"/>
          <p:cNvSpPr/>
          <p:nvPr/>
        </p:nvSpPr>
        <p:spPr>
          <a:xfrm>
            <a:off x="1490400" y="297180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34"/>
          <p:cNvSpPr/>
          <p:nvPr/>
        </p:nvSpPr>
        <p:spPr>
          <a:xfrm>
            <a:off x="1737360" y="297180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5"/>
          <p:cNvSpPr/>
          <p:nvPr/>
        </p:nvSpPr>
        <p:spPr>
          <a:xfrm>
            <a:off x="1984320" y="297180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6"/>
          <p:cNvSpPr/>
          <p:nvPr/>
        </p:nvSpPr>
        <p:spPr>
          <a:xfrm>
            <a:off x="502920" y="321876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7"/>
          <p:cNvSpPr/>
          <p:nvPr/>
        </p:nvSpPr>
        <p:spPr>
          <a:xfrm>
            <a:off x="749880" y="321876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8"/>
          <p:cNvSpPr/>
          <p:nvPr/>
        </p:nvSpPr>
        <p:spPr>
          <a:xfrm>
            <a:off x="996840" y="321876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9"/>
          <p:cNvSpPr/>
          <p:nvPr/>
        </p:nvSpPr>
        <p:spPr>
          <a:xfrm>
            <a:off x="1243440" y="321876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40"/>
          <p:cNvSpPr/>
          <p:nvPr/>
        </p:nvSpPr>
        <p:spPr>
          <a:xfrm>
            <a:off x="1490400" y="321876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41"/>
          <p:cNvSpPr/>
          <p:nvPr/>
        </p:nvSpPr>
        <p:spPr>
          <a:xfrm>
            <a:off x="1737360" y="3218760"/>
            <a:ext cx="228240" cy="228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42"/>
          <p:cNvSpPr/>
          <p:nvPr/>
        </p:nvSpPr>
        <p:spPr>
          <a:xfrm>
            <a:off x="1984320" y="321876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43"/>
          <p:cNvSpPr/>
          <p:nvPr/>
        </p:nvSpPr>
        <p:spPr>
          <a:xfrm>
            <a:off x="50292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4"/>
          <p:cNvSpPr/>
          <p:nvPr/>
        </p:nvSpPr>
        <p:spPr>
          <a:xfrm>
            <a:off x="74988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5"/>
          <p:cNvSpPr/>
          <p:nvPr/>
        </p:nvSpPr>
        <p:spPr>
          <a:xfrm>
            <a:off x="99684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6"/>
          <p:cNvSpPr/>
          <p:nvPr/>
        </p:nvSpPr>
        <p:spPr>
          <a:xfrm>
            <a:off x="124344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47"/>
          <p:cNvSpPr/>
          <p:nvPr/>
        </p:nvSpPr>
        <p:spPr>
          <a:xfrm>
            <a:off x="149040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8"/>
          <p:cNvSpPr/>
          <p:nvPr/>
        </p:nvSpPr>
        <p:spPr>
          <a:xfrm>
            <a:off x="173736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49"/>
          <p:cNvSpPr/>
          <p:nvPr/>
        </p:nvSpPr>
        <p:spPr>
          <a:xfrm>
            <a:off x="1984320" y="3465720"/>
            <a:ext cx="228240" cy="228240"/>
          </a:xfrm>
          <a:prstGeom prst="rect">
            <a:avLst/>
          </a:prstGeom>
          <a:solidFill>
            <a:srgbClr val="1B63C8"/>
          </a:solidFill>
          <a:ln w="12700">
            <a:solidFill>
              <a:srgbClr val="D0D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50"/>
          <p:cNvSpPr/>
          <p:nvPr/>
        </p:nvSpPr>
        <p:spPr>
          <a:xfrm>
            <a:off x="2423160" y="2267640"/>
            <a:ext cx="3382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Cell(row, col)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walls={N:T, S:T, E:T, W:T}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visited=False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51"/>
          <p:cNvSpPr/>
          <p:nvPr/>
        </p:nvSpPr>
        <p:spPr>
          <a:xfrm>
            <a:off x="6263640" y="1234440"/>
            <a:ext cx="55774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52"/>
          <p:cNvSpPr/>
          <p:nvPr/>
        </p:nvSpPr>
        <p:spPr>
          <a:xfrm>
            <a:off x="6263640" y="1234440"/>
            <a:ext cx="82080" cy="219420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3"/>
          <p:cNvSpPr/>
          <p:nvPr/>
        </p:nvSpPr>
        <p:spPr>
          <a:xfrm>
            <a:off x="6446520" y="137160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② BFS Queue — collections.deque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54"/>
          <p:cNvSpPr/>
          <p:nvPr/>
        </p:nvSpPr>
        <p:spPr>
          <a:xfrm>
            <a:off x="6446520" y="175572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FIFO double-ended queue — O(1) append and popleft. Ensures level-by-level expansion for guaranteed shortest path.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55"/>
          <p:cNvSpPr/>
          <p:nvPr/>
        </p:nvSpPr>
        <p:spPr>
          <a:xfrm>
            <a:off x="6492240" y="2286000"/>
            <a:ext cx="959760" cy="347040"/>
          </a:xfrm>
          <a:prstGeom prst="rect">
            <a:avLst/>
          </a:prstGeom>
          <a:solidFill>
            <a:srgbClr val="FFD228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6"/>
          <p:cNvSpPr/>
          <p:nvPr/>
        </p:nvSpPr>
        <p:spPr>
          <a:xfrm>
            <a:off x="6492240" y="228600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7091A"/>
                </a:solidFill>
                <a:effectLst/>
                <a:uFillTx/>
                <a:latin typeface="Consolas"/>
                <a:ea typeface="Consolas"/>
              </a:rPr>
              <a:t>(0,0)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57"/>
          <p:cNvSpPr/>
          <p:nvPr/>
        </p:nvSpPr>
        <p:spPr>
          <a:xfrm>
            <a:off x="7452360" y="2286000"/>
            <a:ext cx="13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→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58"/>
          <p:cNvSpPr/>
          <p:nvPr/>
        </p:nvSpPr>
        <p:spPr>
          <a:xfrm>
            <a:off x="7589520" y="2286000"/>
            <a:ext cx="959760" cy="347040"/>
          </a:xfrm>
          <a:prstGeom prst="rect">
            <a:avLst/>
          </a:prstGeom>
          <a:solidFill>
            <a:srgbClr val="EBF3FF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59"/>
          <p:cNvSpPr/>
          <p:nvPr/>
        </p:nvSpPr>
        <p:spPr>
          <a:xfrm>
            <a:off x="7589520" y="228600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63C8"/>
                </a:solidFill>
                <a:effectLst/>
                <a:uFillTx/>
                <a:latin typeface="Consolas"/>
                <a:ea typeface="Consolas"/>
              </a:rPr>
              <a:t>(0,1)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60"/>
          <p:cNvSpPr/>
          <p:nvPr/>
        </p:nvSpPr>
        <p:spPr>
          <a:xfrm>
            <a:off x="8549640" y="2286000"/>
            <a:ext cx="13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→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61"/>
          <p:cNvSpPr/>
          <p:nvPr/>
        </p:nvSpPr>
        <p:spPr>
          <a:xfrm>
            <a:off x="8686800" y="2286000"/>
            <a:ext cx="959760" cy="347040"/>
          </a:xfrm>
          <a:prstGeom prst="rect">
            <a:avLst/>
          </a:prstGeom>
          <a:solidFill>
            <a:srgbClr val="EBF3FF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62"/>
          <p:cNvSpPr/>
          <p:nvPr/>
        </p:nvSpPr>
        <p:spPr>
          <a:xfrm>
            <a:off x="8686800" y="228600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63C8"/>
                </a:solidFill>
                <a:effectLst/>
                <a:uFillTx/>
                <a:latin typeface="Consolas"/>
                <a:ea typeface="Consolas"/>
              </a:rPr>
              <a:t>(1,1)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63"/>
          <p:cNvSpPr/>
          <p:nvPr/>
        </p:nvSpPr>
        <p:spPr>
          <a:xfrm>
            <a:off x="9646920" y="2286000"/>
            <a:ext cx="13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→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64"/>
          <p:cNvSpPr/>
          <p:nvPr/>
        </p:nvSpPr>
        <p:spPr>
          <a:xfrm>
            <a:off x="9784080" y="2286000"/>
            <a:ext cx="959760" cy="347040"/>
          </a:xfrm>
          <a:prstGeom prst="rect">
            <a:avLst/>
          </a:prstGeom>
          <a:solidFill>
            <a:srgbClr val="EBF3FF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65"/>
          <p:cNvSpPr/>
          <p:nvPr/>
        </p:nvSpPr>
        <p:spPr>
          <a:xfrm>
            <a:off x="9784080" y="228600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63C8"/>
                </a:solidFill>
                <a:effectLst/>
                <a:uFillTx/>
                <a:latin typeface="Consolas"/>
                <a:ea typeface="Consolas"/>
              </a:rPr>
              <a:t>(1,2)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66"/>
          <p:cNvSpPr/>
          <p:nvPr/>
        </p:nvSpPr>
        <p:spPr>
          <a:xfrm>
            <a:off x="10744200" y="2286000"/>
            <a:ext cx="13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63C8"/>
                </a:solidFill>
                <a:effectLst/>
                <a:uFillTx/>
                <a:latin typeface="Calibri"/>
              </a:rPr>
              <a:t>→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67"/>
          <p:cNvSpPr/>
          <p:nvPr/>
        </p:nvSpPr>
        <p:spPr>
          <a:xfrm>
            <a:off x="10881360" y="2286000"/>
            <a:ext cx="959760" cy="347040"/>
          </a:xfrm>
          <a:prstGeom prst="rect">
            <a:avLst/>
          </a:prstGeom>
          <a:solidFill>
            <a:srgbClr val="EBF3FF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68"/>
          <p:cNvSpPr/>
          <p:nvPr/>
        </p:nvSpPr>
        <p:spPr>
          <a:xfrm>
            <a:off x="10881360" y="228600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63C8"/>
                </a:solidFill>
                <a:effectLst/>
                <a:uFillTx/>
                <a:latin typeface="Consolas"/>
                <a:ea typeface="Consolas"/>
              </a:rPr>
              <a:t>(2,2)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9"/>
          <p:cNvSpPr/>
          <p:nvPr/>
        </p:nvSpPr>
        <p:spPr>
          <a:xfrm>
            <a:off x="6492240" y="2688480"/>
            <a:ext cx="1371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FD228"/>
                </a:solidFill>
                <a:effectLst/>
                <a:uFillTx/>
                <a:latin typeface="Calibri"/>
                <a:ea typeface="Calibri"/>
              </a:rPr>
              <a:t>← popleft()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70"/>
          <p:cNvSpPr/>
          <p:nvPr/>
        </p:nvSpPr>
        <p:spPr>
          <a:xfrm>
            <a:off x="10789920" y="2688480"/>
            <a:ext cx="959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3DB8F5"/>
                </a:solidFill>
                <a:effectLst/>
                <a:uFillTx/>
                <a:latin typeface="Calibri"/>
                <a:ea typeface="Calibri"/>
              </a:rPr>
              <a:t>append() 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71"/>
          <p:cNvSpPr/>
          <p:nvPr/>
        </p:nvSpPr>
        <p:spPr>
          <a:xfrm>
            <a:off x="320040" y="3566160"/>
            <a:ext cx="557748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72"/>
          <p:cNvSpPr/>
          <p:nvPr/>
        </p:nvSpPr>
        <p:spPr>
          <a:xfrm>
            <a:off x="320040" y="3566160"/>
            <a:ext cx="82080" cy="205704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73"/>
          <p:cNvSpPr/>
          <p:nvPr/>
        </p:nvSpPr>
        <p:spPr>
          <a:xfrm>
            <a:off x="502920" y="3694320"/>
            <a:ext cx="5303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③ Parent Dictionary — path reconstruction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74"/>
          <p:cNvSpPr/>
          <p:nvPr/>
        </p:nvSpPr>
        <p:spPr>
          <a:xfrm>
            <a:off x="502920" y="4060080"/>
            <a:ext cx="530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dict[(row,col)] = parent_cell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Walking the chain from exit → start and reversing gives the shortest path.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75"/>
          <p:cNvSpPr/>
          <p:nvPr/>
        </p:nvSpPr>
        <p:spPr>
          <a:xfrm>
            <a:off x="502920" y="466344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parent = {(0,0):None, (0,1):(0,0), (1,1):(0,1) …}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76"/>
          <p:cNvSpPr/>
          <p:nvPr/>
        </p:nvSpPr>
        <p:spPr>
          <a:xfrm>
            <a:off x="6263640" y="3566160"/>
            <a:ext cx="557748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77"/>
          <p:cNvSpPr/>
          <p:nvPr/>
        </p:nvSpPr>
        <p:spPr>
          <a:xfrm>
            <a:off x="6263640" y="3566160"/>
            <a:ext cx="82080" cy="20570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78"/>
          <p:cNvSpPr/>
          <p:nvPr/>
        </p:nvSpPr>
        <p:spPr>
          <a:xfrm>
            <a:off x="6446520" y="3694320"/>
            <a:ext cx="5303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④ DFS Stack — iterative backtracking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79"/>
          <p:cNvSpPr/>
          <p:nvPr/>
        </p:nvSpPr>
        <p:spPr>
          <a:xfrm>
            <a:off x="6446520" y="4060080"/>
            <a:ext cx="530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Python list used as LIFO stack — avoids recursion limit for 30×30 mazes (900 cells). O(V) stack depth.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80"/>
          <p:cNvSpPr/>
          <p:nvPr/>
        </p:nvSpPr>
        <p:spPr>
          <a:xfrm>
            <a:off x="6446520" y="466344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stack=[Cell(0,0), Cell(0,1), …]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.append(nbr)  ← visit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.pop()        ← backtrack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D1535"/>
          </a:solidFill>
          <a:ln w="12700">
            <a:solidFill>
              <a:srgbClr val="0D1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DC3C3C"/>
          </a:solidFill>
          <a:ln w="12700">
            <a:solidFill>
              <a:srgbClr val="DC3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"/>
          <p:cNvSpPr/>
          <p:nvPr/>
        </p:nvSpPr>
        <p:spPr>
          <a:xfrm>
            <a:off x="36576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COMPLEXITY ANALYSIS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07 / 08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4"/>
          <p:cNvSpPr/>
          <p:nvPr/>
        </p:nvSpPr>
        <p:spPr>
          <a:xfrm>
            <a:off x="274320" y="1188720"/>
            <a:ext cx="3840120" cy="2742840"/>
          </a:xfrm>
          <a:prstGeom prst="rect">
            <a:avLst/>
          </a:prstGeom>
          <a:solidFill>
            <a:srgbClr val="111C3A"/>
          </a:solidFill>
          <a:ln w="12700">
            <a:solidFill>
              <a:srgbClr val="27C86E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5"/>
          <p:cNvSpPr/>
          <p:nvPr/>
        </p:nvSpPr>
        <p:spPr>
          <a:xfrm>
            <a:off x="274320" y="1188720"/>
            <a:ext cx="3840120" cy="7272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6"/>
          <p:cNvSpPr/>
          <p:nvPr/>
        </p:nvSpPr>
        <p:spPr>
          <a:xfrm>
            <a:off x="411480" y="13348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DFS Generation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7"/>
          <p:cNvSpPr/>
          <p:nvPr/>
        </p:nvSpPr>
        <p:spPr>
          <a:xfrm>
            <a:off x="411480" y="1828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Time: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8"/>
          <p:cNvSpPr/>
          <p:nvPr/>
        </p:nvSpPr>
        <p:spPr>
          <a:xfrm>
            <a:off x="1463040" y="1783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7C86E"/>
                </a:solidFill>
                <a:effectLst/>
                <a:uFillTx/>
                <a:latin typeface="Consolas"/>
                <a:ea typeface="Consolas"/>
              </a:rPr>
              <a:t>O(V)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9"/>
          <p:cNvSpPr/>
          <p:nvPr/>
        </p:nvSpPr>
        <p:spPr>
          <a:xfrm>
            <a:off x="411480" y="2395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Space: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0"/>
          <p:cNvSpPr/>
          <p:nvPr/>
        </p:nvSpPr>
        <p:spPr>
          <a:xfrm>
            <a:off x="1463040" y="2350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O(V)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1"/>
          <p:cNvSpPr/>
          <p:nvPr/>
        </p:nvSpPr>
        <p:spPr>
          <a:xfrm>
            <a:off x="411480" y="290772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V = rows × cols. Every cell visited exactly once.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2"/>
          <p:cNvSpPr/>
          <p:nvPr/>
        </p:nvSpPr>
        <p:spPr>
          <a:xfrm>
            <a:off x="4251960" y="1188720"/>
            <a:ext cx="3840120" cy="2742840"/>
          </a:xfrm>
          <a:prstGeom prst="rect">
            <a:avLst/>
          </a:prstGeom>
          <a:solidFill>
            <a:srgbClr val="111C3A"/>
          </a:solidFill>
          <a:ln w="12700">
            <a:solidFill>
              <a:srgbClr val="FFD228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3"/>
          <p:cNvSpPr/>
          <p:nvPr/>
        </p:nvSpPr>
        <p:spPr>
          <a:xfrm>
            <a:off x="4251960" y="1188720"/>
            <a:ext cx="3840120" cy="7272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4"/>
          <p:cNvSpPr/>
          <p:nvPr/>
        </p:nvSpPr>
        <p:spPr>
          <a:xfrm>
            <a:off x="4389120" y="13348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BFS Pathfinding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5"/>
          <p:cNvSpPr/>
          <p:nvPr/>
        </p:nvSpPr>
        <p:spPr>
          <a:xfrm>
            <a:off x="4389120" y="1828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Time: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6"/>
          <p:cNvSpPr/>
          <p:nvPr/>
        </p:nvSpPr>
        <p:spPr>
          <a:xfrm>
            <a:off x="5440680" y="1783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D228"/>
                </a:solidFill>
                <a:effectLst/>
                <a:uFillTx/>
                <a:latin typeface="Consolas"/>
                <a:ea typeface="Consolas"/>
              </a:rPr>
              <a:t>O(V+E)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7"/>
          <p:cNvSpPr/>
          <p:nvPr/>
        </p:nvSpPr>
        <p:spPr>
          <a:xfrm>
            <a:off x="4389120" y="2395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Space: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8"/>
          <p:cNvSpPr/>
          <p:nvPr/>
        </p:nvSpPr>
        <p:spPr>
          <a:xfrm>
            <a:off x="5440680" y="2350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O(V)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9"/>
          <p:cNvSpPr/>
          <p:nvPr/>
        </p:nvSpPr>
        <p:spPr>
          <a:xfrm>
            <a:off x="4389120" y="290772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V = total cells · E = open wall passages in maze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0"/>
          <p:cNvSpPr/>
          <p:nvPr/>
        </p:nvSpPr>
        <p:spPr>
          <a:xfrm>
            <a:off x="8229600" y="1188720"/>
            <a:ext cx="3840120" cy="2742840"/>
          </a:xfrm>
          <a:prstGeom prst="rect">
            <a:avLst/>
          </a:prstGeom>
          <a:solidFill>
            <a:srgbClr val="111C3A"/>
          </a:solidFill>
          <a:ln w="12700">
            <a:solidFill>
              <a:srgbClr val="3DB8F5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1"/>
          <p:cNvSpPr/>
          <p:nvPr/>
        </p:nvSpPr>
        <p:spPr>
          <a:xfrm>
            <a:off x="8229600" y="1188720"/>
            <a:ext cx="3840120" cy="7272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2"/>
          <p:cNvSpPr/>
          <p:nvPr/>
        </p:nvSpPr>
        <p:spPr>
          <a:xfrm>
            <a:off x="8366760" y="13348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Pygame Render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3"/>
          <p:cNvSpPr/>
          <p:nvPr/>
        </p:nvSpPr>
        <p:spPr>
          <a:xfrm>
            <a:off x="8366760" y="1828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Time: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4"/>
          <p:cNvSpPr/>
          <p:nvPr/>
        </p:nvSpPr>
        <p:spPr>
          <a:xfrm>
            <a:off x="9418320" y="1783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O(V)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5"/>
          <p:cNvSpPr/>
          <p:nvPr/>
        </p:nvSpPr>
        <p:spPr>
          <a:xfrm>
            <a:off x="8366760" y="23958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Space: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6"/>
          <p:cNvSpPr/>
          <p:nvPr/>
        </p:nvSpPr>
        <p:spPr>
          <a:xfrm>
            <a:off x="9418320" y="23500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O(1)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27"/>
          <p:cNvSpPr/>
          <p:nvPr/>
        </p:nvSpPr>
        <p:spPr>
          <a:xfrm>
            <a:off x="8366760" y="290772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Redraws all visible cells every frame at 60 FPS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8"/>
          <p:cNvSpPr/>
          <p:nvPr/>
        </p:nvSpPr>
        <p:spPr>
          <a:xfrm>
            <a:off x="274320" y="4041720"/>
            <a:ext cx="11612520" cy="411120"/>
          </a:xfrm>
          <a:prstGeom prst="rect">
            <a:avLst/>
          </a:prstGeom>
          <a:solidFill>
            <a:srgbClr val="1B63C8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9"/>
          <p:cNvSpPr/>
          <p:nvPr/>
        </p:nvSpPr>
        <p:spPr>
          <a:xfrm>
            <a:off x="274320" y="404172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DIFFICULTY SCALING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9" name="Table 0"/>
          <p:cNvGraphicFramePr/>
          <p:nvPr/>
        </p:nvGraphicFramePr>
        <p:xfrm>
          <a:off x="274320" y="4453200"/>
          <a:ext cx="1161252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286000"/>
                <a:gridCol w="2514600"/>
                <a:gridCol w="25146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D22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Level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0A1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D22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Grid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0A1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D22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 (Cells)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0A1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D22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DFS Steps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0A1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D22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BFS Steps (worst)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0A1028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Easy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 × 10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 × 20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Hard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 × 30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C8DC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900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A2D5A"/>
                      </a:solidFill>
                      <a:prstDash val="solid"/>
                    </a:lnL>
                    <a:lnR w="12240">
                      <a:solidFill>
                        <a:srgbClr val="1A2D5A"/>
                      </a:solidFill>
                      <a:prstDash val="solid"/>
                    </a:lnR>
                    <a:lnT w="12240">
                      <a:solidFill>
                        <a:srgbClr val="1A2D5A"/>
                      </a:solidFill>
                      <a:prstDash val="solid"/>
                    </a:lnT>
                    <a:lnB w="12240">
                      <a:solidFill>
                        <a:srgbClr val="1A2D5A"/>
                      </a:solidFill>
                      <a:prstDash val="solid"/>
                    </a:lnB>
                    <a:solidFill>
                      <a:srgbClr val="111C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0"/>
          <p:cNvSpPr/>
          <p:nvPr/>
        </p:nvSpPr>
        <p:spPr>
          <a:xfrm>
            <a:off x="0" y="0"/>
            <a:ext cx="12161160" cy="1005480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"/>
          <p:cNvSpPr/>
          <p:nvPr/>
        </p:nvSpPr>
        <p:spPr>
          <a:xfrm>
            <a:off x="0" y="1005840"/>
            <a:ext cx="12161160" cy="5436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"/>
          <p:cNvSpPr/>
          <p:nvPr/>
        </p:nvSpPr>
        <p:spPr>
          <a:xfrm>
            <a:off x="365760" y="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APPLICATIONS &amp; CONCLUSION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3"/>
          <p:cNvSpPr/>
          <p:nvPr/>
        </p:nvSpPr>
        <p:spPr>
          <a:xfrm>
            <a:off x="10789920" y="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08 / 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320040" y="1170360"/>
            <a:ext cx="7131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Real-World Applications of DFS &amp; BFS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5"/>
          <p:cNvSpPr/>
          <p:nvPr/>
        </p:nvSpPr>
        <p:spPr>
          <a:xfrm>
            <a:off x="320040" y="166428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6"/>
          <p:cNvSpPr/>
          <p:nvPr/>
        </p:nvSpPr>
        <p:spPr>
          <a:xfrm>
            <a:off x="320040" y="1664280"/>
            <a:ext cx="72720" cy="840960"/>
          </a:xfrm>
          <a:prstGeom prst="rect">
            <a:avLst/>
          </a:prstGeom>
          <a:solidFill>
            <a:srgbClr val="1B63C8"/>
          </a:solidFill>
          <a:ln w="12700">
            <a:solidFill>
              <a:srgbClr val="1B63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7"/>
          <p:cNvSpPr/>
          <p:nvPr/>
        </p:nvSpPr>
        <p:spPr>
          <a:xfrm>
            <a:off x="484560" y="17190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GPS &amp; Navigation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8"/>
          <p:cNvSpPr/>
          <p:nvPr/>
        </p:nvSpPr>
        <p:spPr>
          <a:xfrm>
            <a:off x="48456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Google Maps uses BFS/Dijkstra to find shortest routes between locations.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9"/>
          <p:cNvSpPr/>
          <p:nvPr/>
        </p:nvSpPr>
        <p:spPr>
          <a:xfrm>
            <a:off x="3840480" y="166428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0"/>
          <p:cNvSpPr/>
          <p:nvPr/>
        </p:nvSpPr>
        <p:spPr>
          <a:xfrm>
            <a:off x="3840480" y="1664280"/>
            <a:ext cx="72720" cy="840960"/>
          </a:xfrm>
          <a:prstGeom prst="rect">
            <a:avLst/>
          </a:prstGeom>
          <a:solidFill>
            <a:srgbClr val="27C86E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1"/>
          <p:cNvSpPr/>
          <p:nvPr/>
        </p:nvSpPr>
        <p:spPr>
          <a:xfrm>
            <a:off x="4005000" y="17190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Robot Path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2"/>
          <p:cNvSpPr/>
          <p:nvPr/>
        </p:nvSpPr>
        <p:spPr>
          <a:xfrm>
            <a:off x="400500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Autonomous robots use BFS/A* to navigate obstacle grids in warehouses.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3"/>
          <p:cNvSpPr/>
          <p:nvPr/>
        </p:nvSpPr>
        <p:spPr>
          <a:xfrm>
            <a:off x="320040" y="267012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4"/>
          <p:cNvSpPr/>
          <p:nvPr/>
        </p:nvSpPr>
        <p:spPr>
          <a:xfrm>
            <a:off x="320040" y="2670120"/>
            <a:ext cx="72720" cy="840960"/>
          </a:xfrm>
          <a:prstGeom prst="rect">
            <a:avLst/>
          </a:prstGeom>
          <a:solidFill>
            <a:srgbClr val="FFD228"/>
          </a:solidFill>
          <a:ln w="12700">
            <a:solidFill>
              <a:srgbClr val="FFD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5"/>
          <p:cNvSpPr/>
          <p:nvPr/>
        </p:nvSpPr>
        <p:spPr>
          <a:xfrm>
            <a:off x="484560" y="27248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Game AI Pathfinding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6"/>
          <p:cNvSpPr/>
          <p:nvPr/>
        </p:nvSpPr>
        <p:spPr>
          <a:xfrm>
            <a:off x="484560" y="301752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NPC enemies in RTS games use BFS/A* to chase or avoid the player.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7"/>
          <p:cNvSpPr/>
          <p:nvPr/>
        </p:nvSpPr>
        <p:spPr>
          <a:xfrm>
            <a:off x="3840480" y="267012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8"/>
          <p:cNvSpPr/>
          <p:nvPr/>
        </p:nvSpPr>
        <p:spPr>
          <a:xfrm>
            <a:off x="3840480" y="2670120"/>
            <a:ext cx="72720" cy="840960"/>
          </a:xfrm>
          <a:prstGeom prst="rect">
            <a:avLst/>
          </a:prstGeom>
          <a:solidFill>
            <a:srgbClr val="DC3C3C"/>
          </a:solidFill>
          <a:ln w="12700">
            <a:solidFill>
              <a:srgbClr val="DC3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9"/>
          <p:cNvSpPr/>
          <p:nvPr/>
        </p:nvSpPr>
        <p:spPr>
          <a:xfrm>
            <a:off x="4005000" y="27248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Emergency Evacuation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0"/>
          <p:cNvSpPr/>
          <p:nvPr/>
        </p:nvSpPr>
        <p:spPr>
          <a:xfrm>
            <a:off x="4005000" y="301752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BFS models fastest exit routes from buildings in disaster scenarios.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1"/>
          <p:cNvSpPr/>
          <p:nvPr/>
        </p:nvSpPr>
        <p:spPr>
          <a:xfrm>
            <a:off x="320040" y="367596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22"/>
          <p:cNvSpPr/>
          <p:nvPr/>
        </p:nvSpPr>
        <p:spPr>
          <a:xfrm>
            <a:off x="320040" y="3675960"/>
            <a:ext cx="72720" cy="84096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3"/>
          <p:cNvSpPr/>
          <p:nvPr/>
        </p:nvSpPr>
        <p:spPr>
          <a:xfrm>
            <a:off x="484560" y="37306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Network Routing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4"/>
          <p:cNvSpPr/>
          <p:nvPr/>
        </p:nvSpPr>
        <p:spPr>
          <a:xfrm>
            <a:off x="484560" y="40233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BFS finds shortest hop-count paths in computer network graphs.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5"/>
          <p:cNvSpPr/>
          <p:nvPr/>
        </p:nvSpPr>
        <p:spPr>
          <a:xfrm>
            <a:off x="3840480" y="3675960"/>
            <a:ext cx="32914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26"/>
          <p:cNvSpPr/>
          <p:nvPr/>
        </p:nvSpPr>
        <p:spPr>
          <a:xfrm>
            <a:off x="3840480" y="3675960"/>
            <a:ext cx="72720" cy="84096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7"/>
          <p:cNvSpPr/>
          <p:nvPr/>
        </p:nvSpPr>
        <p:spPr>
          <a:xfrm>
            <a:off x="4005000" y="37306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7091A"/>
                </a:solidFill>
                <a:effectLst/>
                <a:uFillTx/>
                <a:latin typeface="Arial Black"/>
                <a:ea typeface="Arial Black"/>
              </a:rPr>
              <a:t>Procedural Level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8"/>
          <p:cNvSpPr/>
          <p:nvPr/>
        </p:nvSpPr>
        <p:spPr>
          <a:xfrm>
            <a:off x="4005000" y="40233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DFS generates perfect mazes and dungeon layouts in roguelike games.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29"/>
          <p:cNvSpPr/>
          <p:nvPr/>
        </p:nvSpPr>
        <p:spPr>
          <a:xfrm>
            <a:off x="7543800" y="1170360"/>
            <a:ext cx="4343040" cy="509292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30"/>
          <p:cNvSpPr/>
          <p:nvPr/>
        </p:nvSpPr>
        <p:spPr>
          <a:xfrm>
            <a:off x="7543800" y="1170360"/>
            <a:ext cx="4343040" cy="63720"/>
          </a:xfrm>
          <a:prstGeom prst="rect">
            <a:avLst/>
          </a:prstGeom>
          <a:solidFill>
            <a:srgbClr val="3DB8F5"/>
          </a:solidFill>
          <a:ln w="12700">
            <a:solidFill>
              <a:srgbClr val="3DB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31"/>
          <p:cNvSpPr/>
          <p:nvPr/>
        </p:nvSpPr>
        <p:spPr>
          <a:xfrm>
            <a:off x="7726680" y="129852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C8DCFF"/>
                </a:solidFill>
                <a:effectLst/>
                <a:uFillTx/>
                <a:latin typeface="Arial Black"/>
                <a:ea typeface="Arial Black"/>
              </a:rPr>
              <a:t>Project Summary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2"/>
          <p:cNvSpPr/>
          <p:nvPr/>
        </p:nvSpPr>
        <p:spPr>
          <a:xfrm>
            <a:off x="7680960" y="180144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33"/>
          <p:cNvSpPr/>
          <p:nvPr/>
        </p:nvSpPr>
        <p:spPr>
          <a:xfrm>
            <a:off x="7772400" y="18014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34"/>
          <p:cNvSpPr/>
          <p:nvPr/>
        </p:nvSpPr>
        <p:spPr>
          <a:xfrm>
            <a:off x="9509760" y="18014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Python 3.10+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5"/>
          <p:cNvSpPr/>
          <p:nvPr/>
        </p:nvSpPr>
        <p:spPr>
          <a:xfrm>
            <a:off x="7680960" y="220356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36"/>
          <p:cNvSpPr/>
          <p:nvPr/>
        </p:nvSpPr>
        <p:spPr>
          <a:xfrm>
            <a:off x="7772400" y="22035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Framework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7"/>
          <p:cNvSpPr/>
          <p:nvPr/>
        </p:nvSpPr>
        <p:spPr>
          <a:xfrm>
            <a:off x="9509760" y="220356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Pygame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8"/>
          <p:cNvSpPr/>
          <p:nvPr/>
        </p:nvSpPr>
        <p:spPr>
          <a:xfrm>
            <a:off x="7680960" y="260604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39"/>
          <p:cNvSpPr/>
          <p:nvPr/>
        </p:nvSpPr>
        <p:spPr>
          <a:xfrm>
            <a:off x="7772400" y="26060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Maze Gen.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40"/>
          <p:cNvSpPr/>
          <p:nvPr/>
        </p:nvSpPr>
        <p:spPr>
          <a:xfrm>
            <a:off x="950976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DFS — O(V)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41"/>
          <p:cNvSpPr/>
          <p:nvPr/>
        </p:nvSpPr>
        <p:spPr>
          <a:xfrm>
            <a:off x="7680960" y="300852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42"/>
          <p:cNvSpPr/>
          <p:nvPr/>
        </p:nvSpPr>
        <p:spPr>
          <a:xfrm>
            <a:off x="7772400" y="30085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Pathfinding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43"/>
          <p:cNvSpPr/>
          <p:nvPr/>
        </p:nvSpPr>
        <p:spPr>
          <a:xfrm>
            <a:off x="9509760" y="300852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BFS — O(V+E)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44"/>
          <p:cNvSpPr/>
          <p:nvPr/>
        </p:nvSpPr>
        <p:spPr>
          <a:xfrm>
            <a:off x="7680960" y="341064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45"/>
          <p:cNvSpPr/>
          <p:nvPr/>
        </p:nvSpPr>
        <p:spPr>
          <a:xfrm>
            <a:off x="7772400" y="34106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Difficulties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46"/>
          <p:cNvSpPr/>
          <p:nvPr/>
        </p:nvSpPr>
        <p:spPr>
          <a:xfrm>
            <a:off x="9509760" y="34106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Easy / Medium / Hard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47"/>
          <p:cNvSpPr/>
          <p:nvPr/>
        </p:nvSpPr>
        <p:spPr>
          <a:xfrm>
            <a:off x="7680960" y="381312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48"/>
          <p:cNvSpPr/>
          <p:nvPr/>
        </p:nvSpPr>
        <p:spPr>
          <a:xfrm>
            <a:off x="7772400" y="38131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Grid Sizes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49"/>
          <p:cNvSpPr/>
          <p:nvPr/>
        </p:nvSpPr>
        <p:spPr>
          <a:xfrm>
            <a:off x="9509760" y="381312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10×10, 20×20, 30×30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50"/>
          <p:cNvSpPr/>
          <p:nvPr/>
        </p:nvSpPr>
        <p:spPr>
          <a:xfrm>
            <a:off x="7680960" y="421524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1"/>
          <p:cNvSpPr/>
          <p:nvPr/>
        </p:nvSpPr>
        <p:spPr>
          <a:xfrm>
            <a:off x="7772400" y="42152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Modules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52"/>
          <p:cNvSpPr/>
          <p:nvPr/>
        </p:nvSpPr>
        <p:spPr>
          <a:xfrm>
            <a:off x="9509760" y="42152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6 Python files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53"/>
          <p:cNvSpPr/>
          <p:nvPr/>
        </p:nvSpPr>
        <p:spPr>
          <a:xfrm>
            <a:off x="7680960" y="4617720"/>
            <a:ext cx="4068720" cy="365400"/>
          </a:xfrm>
          <a:prstGeom prst="rect">
            <a:avLst/>
          </a:prstGeom>
          <a:solidFill>
            <a:srgbClr val="111C3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54"/>
          <p:cNvSpPr/>
          <p:nvPr/>
        </p:nvSpPr>
        <p:spPr>
          <a:xfrm>
            <a:off x="7772400" y="46177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Frame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55"/>
          <p:cNvSpPr/>
          <p:nvPr/>
        </p:nvSpPr>
        <p:spPr>
          <a:xfrm>
            <a:off x="9509760" y="461772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B8F5"/>
                </a:solidFill>
                <a:effectLst/>
                <a:uFillTx/>
                <a:latin typeface="Consolas"/>
                <a:ea typeface="Consolas"/>
              </a:rPr>
              <a:t>60 FPS · 900×750 px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56"/>
          <p:cNvSpPr/>
          <p:nvPr/>
        </p:nvSpPr>
        <p:spPr>
          <a:xfrm>
            <a:off x="7680960" y="5120640"/>
            <a:ext cx="4068720" cy="1051200"/>
          </a:xfrm>
          <a:prstGeom prst="rect">
            <a:avLst/>
          </a:prstGeom>
          <a:solidFill>
            <a:srgbClr val="0A1028"/>
          </a:solidFill>
          <a:ln w="12700">
            <a:solidFill>
              <a:srgbClr val="27C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57"/>
          <p:cNvSpPr/>
          <p:nvPr/>
        </p:nvSpPr>
        <p:spPr>
          <a:xfrm>
            <a:off x="7772400" y="5120640"/>
            <a:ext cx="38858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27C86E"/>
                </a:solidFill>
                <a:effectLst/>
                <a:uFillTx/>
                <a:latin typeface="Calibri"/>
                <a:ea typeface="Calibri"/>
              </a:rPr>
              <a:t>"A perfect maze has exactly one path between any two cells — proved with DFS generation and BFS solving."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58"/>
          <p:cNvSpPr/>
          <p:nvPr/>
        </p:nvSpPr>
        <p:spPr>
          <a:xfrm>
            <a:off x="0" y="6492240"/>
            <a:ext cx="12161160" cy="365400"/>
          </a:xfrm>
          <a:prstGeom prst="rect">
            <a:avLst/>
          </a:prstGeom>
          <a:solidFill>
            <a:srgbClr val="07091A"/>
          </a:solidFill>
          <a:ln w="12700">
            <a:solidFill>
              <a:srgbClr val="1A2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59"/>
          <p:cNvSpPr/>
          <p:nvPr/>
        </p:nvSpPr>
        <p:spPr>
          <a:xfrm>
            <a:off x="0" y="6492240"/>
            <a:ext cx="12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890BE"/>
                </a:solidFill>
                <a:effectLst/>
                <a:uFillTx/>
                <a:latin typeface="Calibri"/>
                <a:ea typeface="Calibri"/>
              </a:rPr>
              <a:t>2D Maze Solver Game  ·  Analysis of Algorithms  ·  Course Project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2026-05-14T06:33:33Z</dcterms:created>
  <dc:creator>PptxGenJS</dc:creator>
  <dc:description/>
  <dc:language>en-US</dc:language>
  <cp:lastModifiedBy/>
  <dcterms:modified xsi:type="dcterms:W3CDTF">2026-05-14T11:37:51Z</dcterms:modified>
  <cp:revision>2</cp:revision>
  <dc:subject>PptxGenJS Presentation</dc:subject>
  <dc:title>2D Maze Solver Game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